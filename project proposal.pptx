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1"/>
  </p:sldMasterIdLst>
  <p:notesMasterIdLst>
    <p:notesMasterId r:id="rId19"/>
  </p:notesMasterIdLst>
  <p:sldIdLst>
    <p:sldId id="308" r:id="rId2"/>
    <p:sldId id="257" r:id="rId3"/>
    <p:sldId id="297" r:id="rId4"/>
    <p:sldId id="298" r:id="rId5"/>
    <p:sldId id="299" r:id="rId6"/>
    <p:sldId id="309" r:id="rId7"/>
    <p:sldId id="310" r:id="rId8"/>
    <p:sldId id="311" r:id="rId9"/>
    <p:sldId id="312" r:id="rId10"/>
    <p:sldId id="329" r:id="rId11"/>
    <p:sldId id="313" r:id="rId12"/>
    <p:sldId id="330" r:id="rId13"/>
    <p:sldId id="316" r:id="rId14"/>
    <p:sldId id="317" r:id="rId15"/>
    <p:sldId id="321" r:id="rId16"/>
    <p:sldId id="318" r:id="rId17"/>
    <p:sldId id="319" r:id="rId18"/>
  </p:sldIdLst>
  <p:sldSz cx="9144000" cy="5143500" type="screen16x9"/>
  <p:notesSz cx="6858000" cy="9144000"/>
  <p:embeddedFontLst>
    <p:embeddedFont>
      <p:font typeface="Arvo" panose="020B0604020202020204" charset="0"/>
      <p:regular r:id="rId20"/>
      <p:bold r:id="rId21"/>
      <p:italic r:id="rId22"/>
      <p:boldItalic r:id="rId23"/>
    </p:embeddedFont>
    <p:embeddedFont>
      <p:font typeface="Georgia" panose="02040502050405020303" pitchFamily="18" charset="0"/>
      <p:regular r:id="rId24"/>
      <p:bold r:id="rId25"/>
      <p:italic r:id="rId26"/>
      <p:boldItalic r:id="rId27"/>
    </p:embeddedFont>
    <p:embeddedFont>
      <p:font typeface="Roboto Condensed" panose="020F0502020204030204" pitchFamily="2" charset="0"/>
      <p:regular r:id="rId28"/>
      <p:bold r:id="rId29"/>
      <p:italic r:id="rId30"/>
      <p:boldItalic r:id="rId31"/>
    </p:embeddedFont>
    <p:embeddedFont>
      <p:font typeface="Roboto Condensed Light" panose="020F0502020204030204"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32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7665BA-8202-44FC-AD62-C9F0E3EA811A}">
  <a:tblStyle styleId="{E27665BA-8202-44FC-AD62-C9F0E3EA811A}"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15DE48A-E3B5-44D0-98CB-AE0B3FDC037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86533" autoAdjust="0"/>
  </p:normalViewPr>
  <p:slideViewPr>
    <p:cSldViewPr snapToGrid="0">
      <p:cViewPr varScale="1">
        <p:scale>
          <a:sx n="94" d="100"/>
          <a:sy n="94" d="100"/>
        </p:scale>
        <p:origin x="1142" y="77"/>
      </p:cViewPr>
      <p:guideLst>
        <p:guide orient="horz" pos="1620"/>
        <p:guide pos="2880"/>
      </p:guideLst>
    </p:cSldViewPr>
  </p:slideViewPr>
  <p:outlineViewPr>
    <p:cViewPr>
      <p:scale>
        <a:sx n="33" d="100"/>
        <a:sy n="33" d="100"/>
      </p:scale>
      <p:origin x="48" y="428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tableStyles" Target="tableStyles.xml"/><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13637647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58487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2583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89839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62995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529765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68896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83999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3258631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70389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1" name="Google Shape;11;p2"/>
          <p:cNvGrpSpPr/>
          <p:nvPr/>
        </p:nvGrpSpPr>
        <p:grpSpPr>
          <a:xfrm>
            <a:off x="0" y="-7088"/>
            <a:ext cx="8661398" cy="5150588"/>
            <a:chOff x="0" y="-7088"/>
            <a:chExt cx="8661398" cy="5150588"/>
          </a:xfrm>
        </p:grpSpPr>
        <p:sp>
          <p:nvSpPr>
            <p:cNvPr id="12" name="Google Shape;12;p2"/>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1"/>
        <p:cNvGrpSpPr/>
        <p:nvPr/>
      </p:nvGrpSpPr>
      <p:grpSpPr>
        <a:xfrm>
          <a:off x="0" y="0"/>
          <a:ext cx="0" cy="0"/>
          <a:chOff x="0" y="0"/>
          <a:chExt cx="0" cy="0"/>
        </a:xfrm>
      </p:grpSpPr>
      <p:grpSp>
        <p:nvGrpSpPr>
          <p:cNvPr id="82" name="Google Shape;82;p6"/>
          <p:cNvGrpSpPr/>
          <p:nvPr/>
        </p:nvGrpSpPr>
        <p:grpSpPr>
          <a:xfrm>
            <a:off x="-4" y="40"/>
            <a:ext cx="7072430" cy="1327315"/>
            <a:chOff x="-4" y="40"/>
            <a:chExt cx="7072430" cy="1327315"/>
          </a:xfrm>
        </p:grpSpPr>
        <p:sp>
          <p:nvSpPr>
            <p:cNvPr id="83" name="Google Shape;83;p6"/>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84" name="Google Shape;84;p6"/>
            <p:cNvGrpSpPr/>
            <p:nvPr/>
          </p:nvGrpSpPr>
          <p:grpSpPr>
            <a:xfrm rot="10800000" flipH="1">
              <a:off x="3" y="40"/>
              <a:ext cx="6756168" cy="1327315"/>
              <a:chOff x="-2168138" y="330075"/>
              <a:chExt cx="8650663" cy="1699506"/>
            </a:xfrm>
          </p:grpSpPr>
          <p:sp>
            <p:nvSpPr>
              <p:cNvPr id="85" name="Google Shape;85;p6"/>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86" name="Google Shape;86;p6"/>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87" name="Google Shape;87;p6"/>
            <p:cNvGrpSpPr/>
            <p:nvPr/>
          </p:nvGrpSpPr>
          <p:grpSpPr>
            <a:xfrm rot="10800000" flipH="1">
              <a:off x="-4" y="381007"/>
              <a:ext cx="7072430" cy="771744"/>
              <a:chOff x="-9092084" y="330075"/>
              <a:chExt cx="15574609" cy="1699501"/>
            </a:xfrm>
          </p:grpSpPr>
          <p:sp>
            <p:nvSpPr>
              <p:cNvPr id="88" name="Google Shape;88;p6"/>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89" name="Google Shape;89;p6"/>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90" name="Google Shape;90;p6"/>
          <p:cNvGrpSpPr/>
          <p:nvPr/>
        </p:nvGrpSpPr>
        <p:grpSpPr>
          <a:xfrm>
            <a:off x="6946842" y="4472723"/>
            <a:ext cx="2202830" cy="670795"/>
            <a:chOff x="5575242" y="4472723"/>
            <a:chExt cx="2202830" cy="670795"/>
          </a:xfrm>
        </p:grpSpPr>
        <p:sp>
          <p:nvSpPr>
            <p:cNvPr id="91" name="Google Shape;91;p6"/>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6"/>
            <p:cNvGrpSpPr/>
            <p:nvPr/>
          </p:nvGrpSpPr>
          <p:grpSpPr>
            <a:xfrm flipH="1">
              <a:off x="5734850" y="4472723"/>
              <a:ext cx="2040837" cy="670795"/>
              <a:chOff x="1297954" y="330075"/>
              <a:chExt cx="5169293" cy="1699506"/>
            </a:xfrm>
          </p:grpSpPr>
          <p:sp>
            <p:nvSpPr>
              <p:cNvPr id="93" name="Google Shape;93;p6"/>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6"/>
            <p:cNvGrpSpPr/>
            <p:nvPr/>
          </p:nvGrpSpPr>
          <p:grpSpPr>
            <a:xfrm flipH="1">
              <a:off x="5578209" y="4646738"/>
              <a:ext cx="2199863" cy="304563"/>
              <a:chOff x="-5827153" y="330075"/>
              <a:chExt cx="12276019" cy="1699569"/>
            </a:xfrm>
          </p:grpSpPr>
          <p:sp>
            <p:nvSpPr>
              <p:cNvPr id="96" name="Google Shape;96;p6"/>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8" name="Google Shape;98;p6"/>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9" name="Google Shape;99;p6"/>
          <p:cNvSpPr txBox="1">
            <a:spLocks noGrp="1"/>
          </p:cNvSpPr>
          <p:nvPr>
            <p:ph type="body" idx="1"/>
          </p:nvPr>
        </p:nvSpPr>
        <p:spPr>
          <a:xfrm>
            <a:off x="814275" y="1537988"/>
            <a:ext cx="3378300" cy="27243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0" name="Google Shape;100;p6"/>
          <p:cNvSpPr txBox="1">
            <a:spLocks noGrp="1"/>
          </p:cNvSpPr>
          <p:nvPr>
            <p:ph type="body" idx="2"/>
          </p:nvPr>
        </p:nvSpPr>
        <p:spPr>
          <a:xfrm>
            <a:off x="4396123" y="1537988"/>
            <a:ext cx="3378300" cy="27243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1" name="Google Shape;101;p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1pPr>
            <a:lvl2pPr lvl="1">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2pPr>
            <a:lvl3pPr lvl="2">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3pPr>
            <a:lvl4pPr lvl="3">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4pPr>
            <a:lvl5pPr lvl="4">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5pPr>
            <a:lvl6pPr lvl="5">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6pPr>
            <a:lvl7pPr lvl="6">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7pPr>
            <a:lvl8pPr lvl="7">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8pPr>
            <a:lvl9pPr lvl="8">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noAutofit/>
          </a:bodyPr>
          <a:lstStyle>
            <a:lvl1pPr marL="457200" lvl="0" indent="-381000">
              <a:spcBef>
                <a:spcPts val="6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chemeClr val="lt1"/>
                </a:solidFill>
                <a:latin typeface="Roboto Condensed"/>
                <a:ea typeface="Roboto Condensed"/>
                <a:cs typeface="Roboto Condensed"/>
                <a:sym typeface="Roboto Condensed"/>
              </a:defRPr>
            </a:lvl1pPr>
            <a:lvl2pPr lvl="1" algn="r">
              <a:buNone/>
              <a:defRPr sz="1200" b="1">
                <a:solidFill>
                  <a:schemeClr val="lt1"/>
                </a:solidFill>
                <a:latin typeface="Roboto Condensed"/>
                <a:ea typeface="Roboto Condensed"/>
                <a:cs typeface="Roboto Condensed"/>
                <a:sym typeface="Roboto Condensed"/>
              </a:defRPr>
            </a:lvl2pPr>
            <a:lvl3pPr lvl="2" algn="r">
              <a:buNone/>
              <a:defRPr sz="1200" b="1">
                <a:solidFill>
                  <a:schemeClr val="lt1"/>
                </a:solidFill>
                <a:latin typeface="Roboto Condensed"/>
                <a:ea typeface="Roboto Condensed"/>
                <a:cs typeface="Roboto Condensed"/>
                <a:sym typeface="Roboto Condensed"/>
              </a:defRPr>
            </a:lvl3pPr>
            <a:lvl4pPr lvl="3" algn="r">
              <a:buNone/>
              <a:defRPr sz="1200" b="1">
                <a:solidFill>
                  <a:schemeClr val="lt1"/>
                </a:solidFill>
                <a:latin typeface="Roboto Condensed"/>
                <a:ea typeface="Roboto Condensed"/>
                <a:cs typeface="Roboto Condensed"/>
                <a:sym typeface="Roboto Condensed"/>
              </a:defRPr>
            </a:lvl4pPr>
            <a:lvl5pPr lvl="4" algn="r">
              <a:buNone/>
              <a:defRPr sz="1200" b="1">
                <a:solidFill>
                  <a:schemeClr val="lt1"/>
                </a:solidFill>
                <a:latin typeface="Roboto Condensed"/>
                <a:ea typeface="Roboto Condensed"/>
                <a:cs typeface="Roboto Condensed"/>
                <a:sym typeface="Roboto Condensed"/>
              </a:defRPr>
            </a:lvl5pPr>
            <a:lvl6pPr lvl="5" algn="r">
              <a:buNone/>
              <a:defRPr sz="1200" b="1">
                <a:solidFill>
                  <a:schemeClr val="lt1"/>
                </a:solidFill>
                <a:latin typeface="Roboto Condensed"/>
                <a:ea typeface="Roboto Condensed"/>
                <a:cs typeface="Roboto Condensed"/>
                <a:sym typeface="Roboto Condensed"/>
              </a:defRPr>
            </a:lvl6pPr>
            <a:lvl7pPr lvl="6" algn="r">
              <a:buNone/>
              <a:defRPr sz="1200" b="1">
                <a:solidFill>
                  <a:schemeClr val="lt1"/>
                </a:solidFill>
                <a:latin typeface="Roboto Condensed"/>
                <a:ea typeface="Roboto Condensed"/>
                <a:cs typeface="Roboto Condensed"/>
                <a:sym typeface="Roboto Condensed"/>
              </a:defRPr>
            </a:lvl7pPr>
            <a:lvl8pPr lvl="7" algn="r">
              <a:buNone/>
              <a:defRPr sz="1200" b="1">
                <a:solidFill>
                  <a:schemeClr val="lt1"/>
                </a:solidFill>
                <a:latin typeface="Roboto Condensed"/>
                <a:ea typeface="Roboto Condensed"/>
                <a:cs typeface="Roboto Condensed"/>
                <a:sym typeface="Roboto Condensed"/>
              </a:defRPr>
            </a:lvl8pPr>
            <a:lvl9pPr lvl="8" algn="r">
              <a:buNone/>
              <a:defRPr sz="1200" b="1">
                <a:solidFill>
                  <a:schemeClr val="lt1"/>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101600" y="998181"/>
            <a:ext cx="6981780" cy="2961900"/>
          </a:xfrm>
          <a:prstGeom prst="rect">
            <a:avLst/>
          </a:prstGeom>
        </p:spPr>
        <p:txBody>
          <a:bodyPr spcFirstLastPara="1" wrap="square" lIns="91425" tIns="91425" rIns="91425" bIns="91425" anchor="ctr" anchorCtr="0">
            <a:noAutofit/>
          </a:bodyPr>
          <a:lstStyle/>
          <a:p>
            <a:pPr lvl="0" algn="ctr"/>
            <a:r>
              <a:rPr lang="en-US" sz="2400" dirty="0">
                <a:solidFill>
                  <a:schemeClr val="bg1"/>
                </a:solidFill>
                <a:latin typeface="Times New Roman" panose="02020603050405020304" pitchFamily="18" charset="0"/>
                <a:cs typeface="Times New Roman" panose="02020603050405020304" pitchFamily="18" charset="0"/>
              </a:rPr>
              <a:t>Drugs Recommendation based on User Diseases</a:t>
            </a:r>
            <a:endParaRPr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7234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latin typeface="Times New Roman" pitchFamily="18" charset="0"/>
                <a:cs typeface="Times New Roman" pitchFamily="18" charset="0"/>
              </a:rPr>
              <a:t>AIM OF PROJECT</a:t>
            </a:r>
            <a:endParaRPr sz="2400" dirty="0">
              <a:latin typeface="Times New Roman" pitchFamily="18" charset="0"/>
              <a:cs typeface="Times New Roman" pitchFamily="18"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sz="1800">
                <a:latin typeface="Times New Roman" pitchFamily="18" charset="0"/>
                <a:cs typeface="Times New Roman" pitchFamily="18" charset="0"/>
              </a:rPr>
              <a:t>2</a:t>
            </a:fld>
            <a:endParaRPr sz="1800">
              <a:latin typeface="Times New Roman" pitchFamily="18" charset="0"/>
              <a:cs typeface="Times New Roman" pitchFamily="18" charset="0"/>
            </a:endParaRPr>
          </a:p>
        </p:txBody>
      </p:sp>
      <p:sp>
        <p:nvSpPr>
          <p:cNvPr id="193" name="Google Shape;193;p12"/>
          <p:cNvSpPr txBox="1">
            <a:spLocks noGrp="1"/>
          </p:cNvSpPr>
          <p:nvPr>
            <p:ph type="body" idx="1"/>
          </p:nvPr>
        </p:nvSpPr>
        <p:spPr>
          <a:xfrm>
            <a:off x="293683" y="1619481"/>
            <a:ext cx="8625001" cy="3017019"/>
          </a:xfrm>
          <a:prstGeom prst="rect">
            <a:avLst/>
          </a:prstGeom>
        </p:spPr>
        <p:txBody>
          <a:bodyPr spcFirstLastPara="1" wrap="square" lIns="91425" tIns="91425" rIns="91425" bIns="91425" anchor="t" anchorCtr="0">
            <a:noAutofit/>
          </a:bodyPr>
          <a:lstStyle/>
          <a:p>
            <a:pPr marL="342900" indent="-342900" algn="just">
              <a:lnSpc>
                <a:spcPct val="150000"/>
              </a:lnSpc>
              <a:spcBef>
                <a:spcPts val="0"/>
              </a:spcBef>
              <a:buSzPts val="2400"/>
            </a:pPr>
            <a:r>
              <a:rPr lang="en-US" sz="1800" dirty="0">
                <a:solidFill>
                  <a:schemeClr val="tx1"/>
                </a:solidFill>
                <a:latin typeface="Times New Roman" panose="02020603050405020304" pitchFamily="18" charset="0"/>
                <a:cs typeface="Times New Roman" pitchFamily="18" charset="0"/>
              </a:rPr>
              <a:t>The main aim of the project to Detecting Drugs  Recommendation based on User Diseases and </a:t>
            </a:r>
            <a:r>
              <a:rPr lang="en-US" sz="1800" dirty="0">
                <a:latin typeface="Times New Roman" panose="02020603050405020304" pitchFamily="18" charset="0"/>
                <a:cs typeface="Times New Roman" panose="02020603050405020304" pitchFamily="18" charset="0"/>
              </a:rPr>
              <a:t>The entire medical fraternity is in distress, which results in numerous individual’s demise. Due to unavailability, individuals started taking medication independently without appropriate consultation, making the health condition worse than usual. </a:t>
            </a:r>
            <a:endParaRPr lang="en-US" sz="1800" dirty="0">
              <a:solidFill>
                <a:schemeClr val="tx1"/>
              </a:solidFill>
              <a:latin typeface="Times New Roman" panose="02020603050405020304" pitchFamily="18" charset="0"/>
              <a:cs typeface="Times New Roman" pitchFamily="18" charset="0"/>
            </a:endParaRPr>
          </a:p>
        </p:txBody>
      </p:sp>
      <p:grpSp>
        <p:nvGrpSpPr>
          <p:cNvPr id="194" name="Google Shape;194;p12"/>
          <p:cNvGrpSpPr/>
          <p:nvPr/>
        </p:nvGrpSpPr>
        <p:grpSpPr>
          <a:xfrm>
            <a:off x="293683" y="574116"/>
            <a:ext cx="309041" cy="403123"/>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Times New Roman" pitchFamily="18" charset="0"/>
                <a:cs typeface="Times New Roman" pitchFamily="18" charset="0"/>
              </a:endParaRPr>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Times New Roman" pitchFamily="18" charset="0"/>
                <a:cs typeface="Times New Roman" pitchFamily="18" charset="0"/>
              </a:endParaRPr>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Times New Roman" pitchFamily="18" charset="0"/>
                <a:cs typeface="Times New Roman" pitchFamily="18" charset="0"/>
              </a:endParaRPr>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Times New Roman" pitchFamily="18" charset="0"/>
                <a:cs typeface="Times New Roman" pitchFamily="18" charset="0"/>
              </a:endParaRPr>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Times New Roman" pitchFamily="18" charset="0"/>
                <a:cs typeface="Times New Roman" pitchFamily="18" charset="0"/>
              </a:endParaRPr>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Times New Roman" pitchFamily="18" charset="0"/>
                <a:cs typeface="Times New Roman" pitchFamily="18" charset="0"/>
              </a:endParaRPr>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Times New Roman" pitchFamily="18" charset="0"/>
                <a:cs typeface="Times New Roman" pitchFamily="18" charset="0"/>
              </a:endParaRPr>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Times New Roman" pitchFamily="18" charset="0"/>
                <a:cs typeface="Times New Roman" pitchFamily="18" charset="0"/>
              </a:endParaRPr>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Times New Roman" pitchFamily="18" charset="0"/>
                <a:cs typeface="Times New Roman" pitchFamily="18" charset="0"/>
              </a:endParaRPr>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Times New Roman" pitchFamily="18" charset="0"/>
                <a:cs typeface="Times New Roman" pitchFamily="18" charset="0"/>
              </a:endParaRPr>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Times New Roman" pitchFamily="18" charset="0"/>
                <a:cs typeface="Times New Roman" pitchFamily="18" charset="0"/>
              </a:endParaRPr>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Times New Roman" pitchFamily="18" charset="0"/>
                <a:cs typeface="Times New Roman" pitchFamily="18" charset="0"/>
              </a:endParaRPr>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Times New Roman" pitchFamily="18" charset="0"/>
                <a:cs typeface="Times New Roman" pitchFamily="18" charset="0"/>
              </a:endParaRPr>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Times New Roman" pitchFamily="18" charset="0"/>
                <a:cs typeface="Times New Roman" pitchFamily="18"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sz="2400" dirty="0">
                <a:latin typeface="Times New Roman" panose="02020603050405020304" pitchFamily="18" charset="0"/>
                <a:cs typeface="Times New Roman" panose="02020603050405020304" pitchFamily="18" charset="0"/>
              </a:rPr>
              <a:t>ABSTRACT</a:t>
            </a:r>
            <a:endParaRPr sz="2400" dirty="0"/>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193" name="Google Shape;193;p12"/>
          <p:cNvSpPr txBox="1">
            <a:spLocks noGrp="1"/>
          </p:cNvSpPr>
          <p:nvPr>
            <p:ph type="body" idx="1"/>
          </p:nvPr>
        </p:nvSpPr>
        <p:spPr>
          <a:xfrm>
            <a:off x="293683" y="1262794"/>
            <a:ext cx="8309404" cy="3651033"/>
          </a:xfrm>
          <a:prstGeom prst="rect">
            <a:avLst/>
          </a:prstGeom>
        </p:spPr>
        <p:txBody>
          <a:bodyPr spcFirstLastPara="1" wrap="square" lIns="91425" tIns="91425" rIns="91425" bIns="91425" anchor="t" anchorCtr="0">
            <a:noAutofit/>
          </a:bodyPr>
          <a:lstStyle/>
          <a:p>
            <a:pPr marL="342900" indent="-342900" algn="just">
              <a:lnSpc>
                <a:spcPct val="150000"/>
              </a:lnSpc>
              <a:spcBef>
                <a:spcPts val="0"/>
              </a:spcBef>
              <a:buSzPts val="2400"/>
            </a:pPr>
            <a:r>
              <a:rPr lang="en-US" sz="1800" dirty="0">
                <a:latin typeface="Times New Roman" panose="02020603050405020304" pitchFamily="18" charset="0"/>
                <a:cs typeface="Times New Roman" panose="02020603050405020304" pitchFamily="18" charset="0"/>
              </a:rPr>
              <a:t>To present a drug recommender system that can drastically reduce specialists heap. In this research, we build a medicine recommendation system that uses patient reviews to predict the sentiment using various vectorization processes like Bow, TF-IDF, Word2Vec, and Manual Feature Analysis, which can help recommend the top drug for a given disease by different classification algorithms.</a:t>
            </a:r>
          </a:p>
        </p:txBody>
      </p:sp>
      <p:grpSp>
        <p:nvGrpSpPr>
          <p:cNvPr id="194" name="Google Shape;194;p12"/>
          <p:cNvGrpSpPr/>
          <p:nvPr/>
        </p:nvGrpSpPr>
        <p:grpSpPr>
          <a:xfrm>
            <a:off x="293683" y="574116"/>
            <a:ext cx="309041" cy="403123"/>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41862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48142" y="455102"/>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latin typeface="Times New Roman" pitchFamily="18" charset="0"/>
                <a:cs typeface="Times New Roman" pitchFamily="18" charset="0"/>
              </a:rPr>
              <a:t>INTRODUCTION</a:t>
            </a:r>
            <a:r>
              <a:rPr lang="en-US" dirty="0">
                <a:latin typeface="Times New Roman" pitchFamily="18" charset="0"/>
                <a:cs typeface="Times New Roman" pitchFamily="18" charset="0"/>
              </a:rPr>
              <a:t>	</a:t>
            </a:r>
            <a:endParaRPr dirty="0"/>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193" name="Google Shape;193;p12"/>
          <p:cNvSpPr txBox="1">
            <a:spLocks noGrp="1"/>
          </p:cNvSpPr>
          <p:nvPr>
            <p:ph type="body" idx="1"/>
          </p:nvPr>
        </p:nvSpPr>
        <p:spPr>
          <a:xfrm>
            <a:off x="0" y="1306539"/>
            <a:ext cx="8711911" cy="3750126"/>
          </a:xfrm>
          <a:prstGeom prst="rect">
            <a:avLst/>
          </a:prstGeom>
        </p:spPr>
        <p:txBody>
          <a:bodyPr spcFirstLastPara="1" wrap="square" lIns="91425" tIns="91425" rIns="91425" bIns="91425" anchor="t" anchorCtr="0">
            <a:noAutofit/>
          </a:bodyPr>
          <a:lstStyle/>
          <a:p>
            <a:pPr algn="just">
              <a:lnSpc>
                <a:spcPct val="150000"/>
              </a:lnSpc>
            </a:pPr>
            <a:r>
              <a:rPr lang="en-US" sz="1800" dirty="0">
                <a:latin typeface="Times New Roman" panose="02020603050405020304" pitchFamily="18" charset="0"/>
                <a:cs typeface="Times New Roman" panose="02020603050405020304" pitchFamily="18" charset="0"/>
              </a:rPr>
              <a:t>Clinical blunders are very regular nowadays. Over 200 thousand individuals in China and 100 thousand in the USA are affected every year because of prescription mistakes. Over 40% medicine, specialists make mistakes while prescribing since specialists compose the solution as referenced by their knowledge, which is very restricted. Choosing the top level medication is significant for patients who need specialists that know wide-based information about microscopic organisms, antibacterial medications, and patients. Every day a new study comes up with accompanying more drugs, tests, accessible for clinical staff every day.</a:t>
            </a:r>
            <a:endParaRPr lang="en-US" sz="1800" dirty="0">
              <a:solidFill>
                <a:schemeClr val="tx1"/>
              </a:solidFill>
              <a:latin typeface="Times New Roman" panose="02020603050405020304" pitchFamily="18" charset="0"/>
              <a:cs typeface="Times New Roman" panose="02020603050405020304" pitchFamily="18" charset="0"/>
            </a:endParaRPr>
          </a:p>
        </p:txBody>
      </p:sp>
      <p:grpSp>
        <p:nvGrpSpPr>
          <p:cNvPr id="194" name="Google Shape;194;p12"/>
          <p:cNvGrpSpPr/>
          <p:nvPr/>
        </p:nvGrpSpPr>
        <p:grpSpPr>
          <a:xfrm>
            <a:off x="293683" y="574116"/>
            <a:ext cx="309041" cy="403123"/>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69555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latin typeface="Times New Roman" pitchFamily="18" charset="0"/>
                <a:cs typeface="Times New Roman" pitchFamily="18" charset="0"/>
              </a:rPr>
              <a:t>EXISTING SYSTEM</a:t>
            </a:r>
            <a:endParaRPr lang="en-US" sz="2400" dirty="0"/>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193" name="Google Shape;193;p12"/>
          <p:cNvSpPr txBox="1">
            <a:spLocks noGrp="1"/>
          </p:cNvSpPr>
          <p:nvPr>
            <p:ph type="body" idx="1"/>
          </p:nvPr>
        </p:nvSpPr>
        <p:spPr>
          <a:xfrm>
            <a:off x="130171" y="1550520"/>
            <a:ext cx="8668571" cy="2924611"/>
          </a:xfrm>
          <a:prstGeom prst="rect">
            <a:avLst/>
          </a:prstGeom>
        </p:spPr>
        <p:txBody>
          <a:bodyPr spcFirstLastPara="1" wrap="square" lIns="91425" tIns="91425" rIns="91425" bIns="91425" anchor="t" anchorCtr="0">
            <a:noAutofit/>
          </a:bodyPr>
          <a:lstStyle/>
          <a:p>
            <a:pPr algn="l">
              <a:lnSpc>
                <a:spcPct val="150000"/>
              </a:lnSpc>
            </a:pPr>
            <a:r>
              <a:rPr lang="en-US" sz="1800" dirty="0">
                <a:latin typeface="Times New Roman" panose="02020603050405020304" pitchFamily="18" charset="0"/>
                <a:cs typeface="Times New Roman" panose="02020603050405020304" pitchFamily="18" charset="0"/>
              </a:rPr>
              <a:t>A Proper set up of the data required to build classifiers for sentiment analysis. Machine learning algorithms can’t work with text straightforwardly; it should be changed over into numerical format. In particular, vectors of numbers. A well known and straightforward strategy for feature extraction with text information used in this research.</a:t>
            </a:r>
            <a:endParaRPr lang="en-US" sz="1800" b="0" i="0" dirty="0">
              <a:solidFill>
                <a:srgbClr val="000000"/>
              </a:solidFill>
              <a:effectLst/>
              <a:latin typeface="Times New Roman" panose="02020603050405020304" pitchFamily="18" charset="0"/>
              <a:cs typeface="Times New Roman" panose="02020603050405020304" pitchFamily="18" charset="0"/>
            </a:endParaRPr>
          </a:p>
        </p:txBody>
      </p:sp>
      <p:grpSp>
        <p:nvGrpSpPr>
          <p:cNvPr id="194" name="Google Shape;194;p12"/>
          <p:cNvGrpSpPr/>
          <p:nvPr/>
        </p:nvGrpSpPr>
        <p:grpSpPr>
          <a:xfrm>
            <a:off x="293683" y="574116"/>
            <a:ext cx="309041" cy="403123"/>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18527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6F47A-C7FB-4FD5-A4CC-EE9F0EB5326C}"/>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DISADVANTAGES</a:t>
            </a:r>
            <a:endParaRPr lang="en-I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9AA40C3-B66B-4297-B378-4A26BC42B11A}"/>
              </a:ext>
            </a:extLst>
          </p:cNvPr>
          <p:cNvSpPr>
            <a:spLocks noGrp="1"/>
          </p:cNvSpPr>
          <p:nvPr>
            <p:ph type="body" idx="1"/>
          </p:nvPr>
        </p:nvSpPr>
        <p:spPr>
          <a:xfrm>
            <a:off x="440268" y="1537988"/>
            <a:ext cx="7905242" cy="2892344"/>
          </a:xfrm>
        </p:spPr>
        <p:txBody>
          <a:bodyPr/>
          <a:lstStyle/>
          <a:p>
            <a:pPr marL="342900" lvl="0" indent="-342900">
              <a:lnSpc>
                <a:spcPct val="150000"/>
              </a:lnSpc>
              <a:spcAft>
                <a:spcPts val="800"/>
              </a:spcAft>
              <a:buFont typeface="Arial" panose="020B0604020202020204" pitchFamily="34" charset="0"/>
              <a:buChar char="•"/>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Low accuracy.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Arial" panose="020B0604020202020204" pitchFamily="34" charset="0"/>
              <a:buChar char="•"/>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Updating of written records is very difficult.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Arial" panose="020B0604020202020204" pitchFamily="34" charset="0"/>
              <a:buChar char="•"/>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Data processing is very low.</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F70E187-580C-4ACA-BAF0-D05D1B7B1C5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extLst>
      <p:ext uri="{BB962C8B-B14F-4D97-AF65-F5344CB8AC3E}">
        <p14:creationId xmlns:p14="http://schemas.microsoft.com/office/powerpoint/2010/main" val="1431298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8C270-A84B-4183-864C-F73859C8E72B}"/>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PROPOSED SYSTEM</a:t>
            </a:r>
            <a:endParaRPr lang="en-I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D3DCE1F-DCDB-44D0-894F-1E1EDF67E158}"/>
              </a:ext>
            </a:extLst>
          </p:cNvPr>
          <p:cNvSpPr>
            <a:spLocks noGrp="1"/>
          </p:cNvSpPr>
          <p:nvPr>
            <p:ph type="body" idx="1"/>
          </p:nvPr>
        </p:nvSpPr>
        <p:spPr>
          <a:xfrm>
            <a:off x="51794" y="1257766"/>
            <a:ext cx="8394013" cy="3616441"/>
          </a:xfrm>
        </p:spPr>
        <p:txBody>
          <a:bodyPr/>
          <a:lstStyle/>
          <a:p>
            <a:pPr>
              <a:lnSpc>
                <a:spcPct val="150000"/>
              </a:lnSpc>
            </a:pPr>
            <a:r>
              <a:rPr lang="en-US" sz="1800" dirty="0">
                <a:latin typeface="Times New Roman" panose="02020603050405020304" pitchFamily="18" charset="0"/>
                <a:cs typeface="Times New Roman" panose="02020603050405020304" pitchFamily="18" charset="0"/>
              </a:rPr>
              <a:t>Proper hyperparameter optimization is also required for classification algorithms to improve the accuracy of the model. In the recommendation framework, we simply just added the best-predicted result of each method. For better results and understanding, require a proper </a:t>
            </a:r>
            <a:r>
              <a:rPr lang="en-US" sz="1800" dirty="0" err="1">
                <a:latin typeface="Times New Roman" panose="02020603050405020304" pitchFamily="18" charset="0"/>
                <a:cs typeface="Times New Roman" panose="02020603050405020304" pitchFamily="18" charset="0"/>
              </a:rPr>
              <a:t>ensembling</a:t>
            </a:r>
            <a:r>
              <a:rPr lang="en-US" sz="1800" dirty="0">
                <a:latin typeface="Times New Roman" panose="02020603050405020304" pitchFamily="18" charset="0"/>
                <a:cs typeface="Times New Roman" panose="02020603050405020304" pitchFamily="18" charset="0"/>
              </a:rPr>
              <a:t> of different predicted results.</a:t>
            </a:r>
            <a:endParaRPr lang="en-US" sz="1800" b="0" i="0" dirty="0">
              <a:solidFill>
                <a:srgbClr val="000000"/>
              </a:solidFill>
              <a:effectLst/>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355EB8A-BC36-485D-A404-46E37ECA7B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extLst>
      <p:ext uri="{BB962C8B-B14F-4D97-AF65-F5344CB8AC3E}">
        <p14:creationId xmlns:p14="http://schemas.microsoft.com/office/powerpoint/2010/main" val="2081813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AD823-B8F6-4E18-95C6-56FCED37445E}"/>
              </a:ext>
            </a:extLst>
          </p:cNvPr>
          <p:cNvSpPr>
            <a:spLocks noGrp="1"/>
          </p:cNvSpPr>
          <p:nvPr>
            <p:ph type="title"/>
          </p:nvPr>
        </p:nvSpPr>
        <p:spPr/>
        <p:txBody>
          <a:bodyPr/>
          <a:lstStyle/>
          <a:p>
            <a:r>
              <a:rPr lang="en-US" sz="2400" dirty="0">
                <a:latin typeface="Times New Roman" pitchFamily="18" charset="0"/>
                <a:cs typeface="Times New Roman" pitchFamily="18" charset="0"/>
              </a:rPr>
              <a:t>ADVANTAGES</a:t>
            </a:r>
            <a:endParaRPr lang="en-IN" sz="2400" dirty="0">
              <a:latin typeface="Times New Roman" pitchFamily="18" charset="0"/>
              <a:cs typeface="Times New Roman" pitchFamily="18" charset="0"/>
            </a:endParaRPr>
          </a:p>
        </p:txBody>
      </p:sp>
      <p:sp>
        <p:nvSpPr>
          <p:cNvPr id="3" name="Text Placeholder 2">
            <a:extLst>
              <a:ext uri="{FF2B5EF4-FFF2-40B4-BE49-F238E27FC236}">
                <a16:creationId xmlns:a16="http://schemas.microsoft.com/office/drawing/2014/main" id="{514681C1-68A4-4DE1-B55D-2D9A3EECCA0B}"/>
              </a:ext>
            </a:extLst>
          </p:cNvPr>
          <p:cNvSpPr>
            <a:spLocks noGrp="1"/>
          </p:cNvSpPr>
          <p:nvPr>
            <p:ph type="body" idx="1"/>
          </p:nvPr>
        </p:nvSpPr>
        <p:spPr>
          <a:xfrm>
            <a:off x="509451" y="1413213"/>
            <a:ext cx="8072846" cy="3337712"/>
          </a:xfrm>
        </p:spPr>
        <p:txBody>
          <a:bodyPr/>
          <a:lstStyle/>
          <a:p>
            <a:pPr marL="342900" lvl="0" indent="-342900">
              <a:spcBef>
                <a:spcPts val="1200"/>
              </a:spcBef>
              <a:spcAft>
                <a:spcPts val="1200"/>
              </a:spcAft>
              <a:buFont typeface="Symbol" panose="05050102010706020507" pitchFamily="18" charset="2"/>
              <a:buChar char=""/>
            </a:pPr>
            <a:r>
              <a:rPr lang="en-US" sz="1800" dirty="0">
                <a:solidFill>
                  <a:srgbClr val="000000"/>
                </a:solidFill>
                <a:effectLst/>
                <a:latin typeface="Times New Roman" panose="02020603050405020304" pitchFamily="18" charset="0"/>
                <a:ea typeface="Calibri" panose="020F0502020204030204" pitchFamily="34" charset="0"/>
              </a:rPr>
              <a:t>High  accuracy and efficiency</a:t>
            </a:r>
            <a:endParaRPr lang="en-IN" sz="1800" dirty="0">
              <a:solidFill>
                <a:srgbClr val="000000"/>
              </a:solidFill>
              <a:effectLst/>
              <a:latin typeface="Times New Roman" panose="02020603050405020304" pitchFamily="18" charset="0"/>
              <a:ea typeface="Calibri" panose="020F0502020204030204" pitchFamily="34" charset="0"/>
            </a:endParaRPr>
          </a:p>
          <a:p>
            <a:pPr marL="342900" lvl="0" indent="-342900">
              <a:spcBef>
                <a:spcPts val="1200"/>
              </a:spcBef>
              <a:spcAft>
                <a:spcPts val="1200"/>
              </a:spcAft>
              <a:buFont typeface="Symbol" panose="05050102010706020507" pitchFamily="18" charset="2"/>
              <a:buChar char=""/>
            </a:pPr>
            <a:r>
              <a:rPr lang="en-US" sz="1800" dirty="0">
                <a:solidFill>
                  <a:srgbClr val="000000"/>
                </a:solidFill>
                <a:effectLst/>
                <a:latin typeface="Times New Roman" panose="02020603050405020304" pitchFamily="18" charset="0"/>
                <a:ea typeface="Calibri" panose="020F0502020204030204" pitchFamily="34" charset="0"/>
              </a:rPr>
              <a:t>High security</a:t>
            </a:r>
            <a:endParaRPr lang="en-IN" sz="1800" dirty="0">
              <a:solidFill>
                <a:srgbClr val="000000"/>
              </a:solidFill>
              <a:effectLst/>
              <a:latin typeface="Times New Roman" panose="02020603050405020304" pitchFamily="18" charset="0"/>
              <a:ea typeface="Calibri" panose="020F0502020204030204" pitchFamily="34" charset="0"/>
            </a:endParaRPr>
          </a:p>
          <a:p>
            <a:pPr marL="342900" lvl="0" indent="-342900">
              <a:spcBef>
                <a:spcPts val="1200"/>
              </a:spcBef>
              <a:spcAft>
                <a:spcPts val="1200"/>
              </a:spcAft>
              <a:buFont typeface="Symbol" panose="05050102010706020507" pitchFamily="18" charset="2"/>
              <a:buChar char=""/>
            </a:pPr>
            <a:r>
              <a:rPr lang="en-IN" sz="1800" dirty="0">
                <a:solidFill>
                  <a:srgbClr val="000000"/>
                </a:solidFill>
                <a:effectLst/>
                <a:latin typeface="Georgia" panose="02040502050405020303" pitchFamily="18" charset="0"/>
                <a:ea typeface="Calibri" panose="020F0502020204030204" pitchFamily="34" charset="0"/>
              </a:rPr>
              <a:t>It also helps them to know their knowledge level. </a:t>
            </a:r>
          </a:p>
        </p:txBody>
      </p:sp>
      <p:sp>
        <p:nvSpPr>
          <p:cNvPr id="5" name="Slide Number Placeholder 4">
            <a:extLst>
              <a:ext uri="{FF2B5EF4-FFF2-40B4-BE49-F238E27FC236}">
                <a16:creationId xmlns:a16="http://schemas.microsoft.com/office/drawing/2014/main" id="{D65CD728-BDB2-481E-B191-F726AED398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extLst>
      <p:ext uri="{BB962C8B-B14F-4D97-AF65-F5344CB8AC3E}">
        <p14:creationId xmlns:p14="http://schemas.microsoft.com/office/powerpoint/2010/main" val="4214987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56E9-5C80-4A03-A1CB-A7DB5B26FAD0}"/>
              </a:ext>
            </a:extLst>
          </p:cNvPr>
          <p:cNvSpPr>
            <a:spLocks noGrp="1"/>
          </p:cNvSpPr>
          <p:nvPr>
            <p:ph type="title"/>
          </p:nvPr>
        </p:nvSpPr>
        <p:spPr>
          <a:xfrm>
            <a:off x="611075" y="364791"/>
            <a:ext cx="5258400" cy="766200"/>
          </a:xfrm>
        </p:spPr>
        <p:txBody>
          <a:bodyPr/>
          <a:lstStyle/>
          <a:p>
            <a:r>
              <a:rPr lang="en-US" sz="2400" dirty="0">
                <a:latin typeface="Times New Roman" pitchFamily="18" charset="0"/>
                <a:cs typeface="Times New Roman" pitchFamily="18" charset="0"/>
              </a:rPr>
              <a:t>SYSTEM ARCHITECTURE</a:t>
            </a:r>
            <a:endParaRPr lang="en-IN" sz="2400" dirty="0">
              <a:latin typeface="Times New Roman" pitchFamily="18" charset="0"/>
              <a:cs typeface="Times New Roman" pitchFamily="18" charset="0"/>
            </a:endParaRPr>
          </a:p>
        </p:txBody>
      </p:sp>
      <p:sp>
        <p:nvSpPr>
          <p:cNvPr id="5" name="Slide Number Placeholder 4">
            <a:extLst>
              <a:ext uri="{FF2B5EF4-FFF2-40B4-BE49-F238E27FC236}">
                <a16:creationId xmlns:a16="http://schemas.microsoft.com/office/drawing/2014/main" id="{95E711B8-DEBC-48B5-911A-197A575D51A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grpSp>
        <p:nvGrpSpPr>
          <p:cNvPr id="4" name="Canvas 1220">
            <a:extLst>
              <a:ext uri="{FF2B5EF4-FFF2-40B4-BE49-F238E27FC236}">
                <a16:creationId xmlns:a16="http://schemas.microsoft.com/office/drawing/2014/main" id="{96FBF7C8-E9B1-6294-6035-0B81F2CEDA3E}"/>
              </a:ext>
            </a:extLst>
          </p:cNvPr>
          <p:cNvGrpSpPr/>
          <p:nvPr/>
        </p:nvGrpSpPr>
        <p:grpSpPr>
          <a:xfrm>
            <a:off x="954234" y="1130991"/>
            <a:ext cx="5734594" cy="3842292"/>
            <a:chOff x="0" y="0"/>
            <a:chExt cx="5486400" cy="5907405"/>
          </a:xfrm>
        </p:grpSpPr>
        <p:sp>
          <p:nvSpPr>
            <p:cNvPr id="26" name="Rectangle 25">
              <a:extLst>
                <a:ext uri="{FF2B5EF4-FFF2-40B4-BE49-F238E27FC236}">
                  <a16:creationId xmlns:a16="http://schemas.microsoft.com/office/drawing/2014/main" id="{7CB25409-6B29-8FA1-8D3F-13D43CDBB748}"/>
                </a:ext>
              </a:extLst>
            </p:cNvPr>
            <p:cNvSpPr/>
            <p:nvPr/>
          </p:nvSpPr>
          <p:spPr>
            <a:xfrm>
              <a:off x="0" y="0"/>
              <a:ext cx="5486400" cy="5907405"/>
            </a:xfrm>
            <a:prstGeom prst="rect">
              <a:avLst/>
            </a:prstGeom>
            <a:solidFill>
              <a:prstClr val="white"/>
            </a:solidFill>
          </p:spPr>
        </p:sp>
        <p:sp>
          <p:nvSpPr>
            <p:cNvPr id="27" name="Rectangle 26">
              <a:extLst>
                <a:ext uri="{FF2B5EF4-FFF2-40B4-BE49-F238E27FC236}">
                  <a16:creationId xmlns:a16="http://schemas.microsoft.com/office/drawing/2014/main" id="{F55D24E9-91BC-FA18-FC53-D4842A7F82A5}"/>
                </a:ext>
              </a:extLst>
            </p:cNvPr>
            <p:cNvSpPr/>
            <p:nvPr/>
          </p:nvSpPr>
          <p:spPr>
            <a:xfrm>
              <a:off x="3318552" y="492886"/>
              <a:ext cx="1212351" cy="52422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US" sz="1100" b="1">
                  <a:solidFill>
                    <a:srgbClr val="000000"/>
                  </a:solidFill>
                  <a:effectLst/>
                  <a:ea typeface="Calibri" panose="020F0502020204030204" pitchFamily="34" charset="0"/>
                  <a:cs typeface="Times New Roman" panose="02020603050405020304" pitchFamily="18" charset="0"/>
                </a:rPr>
                <a:t>Register &amp; Login </a:t>
              </a:r>
              <a:endParaRPr lang="en-IN" sz="1100">
                <a:solidFill>
                  <a:srgbClr val="000000"/>
                </a:solidFill>
                <a:effectLst/>
                <a:ea typeface="Calibri" panose="020F050202020403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5E0B70C-9D23-0D84-1DB6-EF9E2C6E7C5D}"/>
                </a:ext>
              </a:extLst>
            </p:cNvPr>
            <p:cNvPicPr>
              <a:picLocks noChangeAspect="1"/>
            </p:cNvPicPr>
            <p:nvPr/>
          </p:nvPicPr>
          <p:blipFill>
            <a:blip r:embed="rId3"/>
            <a:stretch>
              <a:fillRect/>
            </a:stretch>
          </p:blipFill>
          <p:spPr>
            <a:xfrm>
              <a:off x="180000" y="180000"/>
              <a:ext cx="805815" cy="1040130"/>
            </a:xfrm>
            <a:prstGeom prst="rect">
              <a:avLst/>
            </a:prstGeom>
          </p:spPr>
        </p:pic>
        <p:sp>
          <p:nvSpPr>
            <p:cNvPr id="29" name="Rectangle 28">
              <a:extLst>
                <a:ext uri="{FF2B5EF4-FFF2-40B4-BE49-F238E27FC236}">
                  <a16:creationId xmlns:a16="http://schemas.microsoft.com/office/drawing/2014/main" id="{06936F8A-9F1B-632D-5761-0FE569DDDE45}"/>
                </a:ext>
              </a:extLst>
            </p:cNvPr>
            <p:cNvSpPr/>
            <p:nvPr/>
          </p:nvSpPr>
          <p:spPr>
            <a:xfrm>
              <a:off x="195240" y="1197142"/>
              <a:ext cx="790575" cy="32766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pPr>
              <a:r>
                <a:rPr lang="en-US" sz="1100" b="1">
                  <a:solidFill>
                    <a:srgbClr val="000000"/>
                  </a:solidFill>
                  <a:effectLst/>
                  <a:ea typeface="Calibri" panose="020F0502020204030204" pitchFamily="34" charset="0"/>
                  <a:cs typeface="Times New Roman" panose="02020603050405020304" pitchFamily="18" charset="0"/>
                </a:rPr>
                <a:t>User</a:t>
              </a:r>
              <a:endParaRPr lang="en-IN" sz="1100">
                <a:solidFill>
                  <a:srgbClr val="000000"/>
                </a:solidFill>
                <a:effectLst/>
                <a:ea typeface="Calibri" panose="020F0502020204030204" pitchFamily="34" charset="0"/>
                <a:cs typeface="Times New Roman" panose="02020603050405020304" pitchFamily="18" charset="0"/>
              </a:endParaRPr>
            </a:p>
          </p:txBody>
        </p:sp>
        <p:pic>
          <p:nvPicPr>
            <p:cNvPr id="30" name="Picture 29">
              <a:extLst>
                <a:ext uri="{FF2B5EF4-FFF2-40B4-BE49-F238E27FC236}">
                  <a16:creationId xmlns:a16="http://schemas.microsoft.com/office/drawing/2014/main" id="{F39504AE-5C4D-B1EC-4AF5-5CB61BB9A4B1}"/>
                </a:ext>
              </a:extLst>
            </p:cNvPr>
            <p:cNvPicPr>
              <a:picLocks noChangeAspect="1"/>
            </p:cNvPicPr>
            <p:nvPr/>
          </p:nvPicPr>
          <p:blipFill>
            <a:blip r:embed="rId4"/>
            <a:stretch>
              <a:fillRect/>
            </a:stretch>
          </p:blipFill>
          <p:spPr>
            <a:xfrm>
              <a:off x="1674689" y="2054903"/>
              <a:ext cx="1027382" cy="1025825"/>
            </a:xfrm>
            <a:prstGeom prst="rect">
              <a:avLst/>
            </a:prstGeom>
          </p:spPr>
        </p:pic>
        <p:sp>
          <p:nvSpPr>
            <p:cNvPr id="31" name="Rectangle 30">
              <a:extLst>
                <a:ext uri="{FF2B5EF4-FFF2-40B4-BE49-F238E27FC236}">
                  <a16:creationId xmlns:a16="http://schemas.microsoft.com/office/drawing/2014/main" id="{98363A56-FB64-01E0-FD15-878A78BFADBB}"/>
                </a:ext>
              </a:extLst>
            </p:cNvPr>
            <p:cNvSpPr/>
            <p:nvPr/>
          </p:nvSpPr>
          <p:spPr>
            <a:xfrm>
              <a:off x="3318958" y="1494988"/>
              <a:ext cx="1232494" cy="52387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6000"/>
                </a:lnSpc>
                <a:spcAft>
                  <a:spcPts val="800"/>
                </a:spcAft>
              </a:pPr>
              <a:r>
                <a:rPr lang="en-US" sz="1100" b="1">
                  <a:solidFill>
                    <a:srgbClr val="000000"/>
                  </a:solidFill>
                  <a:effectLst/>
                  <a:ea typeface="Calibri" panose="020F0502020204030204" pitchFamily="34" charset="0"/>
                  <a:cs typeface="Times New Roman" panose="02020603050405020304" pitchFamily="18" charset="0"/>
                </a:rPr>
                <a:t>View Profile</a:t>
              </a:r>
              <a:endParaRPr lang="en-IN" sz="1100">
                <a:solidFill>
                  <a:srgbClr val="000000"/>
                </a:solidFill>
                <a:effectLst/>
                <a:ea typeface="Calibri" panose="020F0502020204030204" pitchFamily="34" charset="0"/>
                <a:cs typeface="Times New Roman" panose="02020603050405020304" pitchFamily="18" charset="0"/>
              </a:endParaRPr>
            </a:p>
          </p:txBody>
        </p:sp>
        <p:sp>
          <p:nvSpPr>
            <p:cNvPr id="32" name="Rectangle 31">
              <a:extLst>
                <a:ext uri="{FF2B5EF4-FFF2-40B4-BE49-F238E27FC236}">
                  <a16:creationId xmlns:a16="http://schemas.microsoft.com/office/drawing/2014/main" id="{96631224-F5DC-FF1A-3534-032E55DF9DC3}"/>
                </a:ext>
              </a:extLst>
            </p:cNvPr>
            <p:cNvSpPr/>
            <p:nvPr/>
          </p:nvSpPr>
          <p:spPr>
            <a:xfrm>
              <a:off x="1823865" y="3015667"/>
              <a:ext cx="790575" cy="32702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pPr>
              <a:r>
                <a:rPr lang="en-US" sz="1100" b="1">
                  <a:solidFill>
                    <a:srgbClr val="000000"/>
                  </a:solidFill>
                  <a:effectLst/>
                  <a:ea typeface="Calibri" panose="020F0502020204030204" pitchFamily="34" charset="0"/>
                  <a:cs typeface="Times New Roman" panose="02020603050405020304" pitchFamily="18" charset="0"/>
                </a:rPr>
                <a:t>Dataset </a:t>
              </a:r>
              <a:endParaRPr lang="en-IN" sz="1100">
                <a:solidFill>
                  <a:srgbClr val="000000"/>
                </a:solidFill>
                <a:effectLst/>
                <a:ea typeface="Calibri" panose="020F0502020204030204" pitchFamily="34" charset="0"/>
                <a:cs typeface="Times New Roman" panose="02020603050405020304" pitchFamily="18" charset="0"/>
              </a:endParaRPr>
            </a:p>
          </p:txBody>
        </p:sp>
        <p:cxnSp>
          <p:nvCxnSpPr>
            <p:cNvPr id="33" name="Straight Arrow Connector 32">
              <a:extLst>
                <a:ext uri="{FF2B5EF4-FFF2-40B4-BE49-F238E27FC236}">
                  <a16:creationId xmlns:a16="http://schemas.microsoft.com/office/drawing/2014/main" id="{030E39F7-BB29-EE6D-16B5-03EFEBAE45ED}"/>
                </a:ext>
              </a:extLst>
            </p:cNvPr>
            <p:cNvCxnSpPr/>
            <p:nvPr/>
          </p:nvCxnSpPr>
          <p:spPr>
            <a:xfrm>
              <a:off x="1160980" y="1181528"/>
              <a:ext cx="780836" cy="883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Rectangle 33">
              <a:extLst>
                <a:ext uri="{FF2B5EF4-FFF2-40B4-BE49-F238E27FC236}">
                  <a16:creationId xmlns:a16="http://schemas.microsoft.com/office/drawing/2014/main" id="{AC9C34DA-8BF0-1750-8279-94C69AEC3F6B}"/>
                </a:ext>
              </a:extLst>
            </p:cNvPr>
            <p:cNvSpPr/>
            <p:nvPr/>
          </p:nvSpPr>
          <p:spPr>
            <a:xfrm>
              <a:off x="375209" y="1659465"/>
              <a:ext cx="1751542" cy="326390"/>
            </a:xfrm>
            <a:prstGeom prst="rect">
              <a:avLst/>
            </a:prstGeom>
            <a:noFill/>
            <a:ln>
              <a:noFill/>
            </a:ln>
          </p:spPr>
          <p:style>
            <a:lnRef idx="0">
              <a:scrgbClr r="0" g="0" b="0"/>
            </a:lnRef>
            <a:fillRef idx="0">
              <a:scrgbClr r="0" g="0" b="0"/>
            </a:fillRef>
            <a:effectRef idx="0">
              <a:scrgbClr r="0" g="0" b="0"/>
            </a:effectRef>
            <a:fontRef idx="minor">
              <a:schemeClr val="accent6"/>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pPr>
              <a:r>
                <a:rPr lang="en-US" sz="1100" b="1">
                  <a:solidFill>
                    <a:srgbClr val="000000"/>
                  </a:solidFill>
                  <a:effectLst/>
                  <a:ea typeface="Calibri" panose="020F0502020204030204" pitchFamily="34" charset="0"/>
                  <a:cs typeface="Times New Roman" panose="02020603050405020304" pitchFamily="18" charset="0"/>
                </a:rPr>
                <a:t>Upload Dataset </a:t>
              </a:r>
              <a:endParaRPr lang="en-IN" sz="1100">
                <a:solidFill>
                  <a:srgbClr val="000000"/>
                </a:solidFill>
                <a:effectLst/>
                <a:ea typeface="Calibri" panose="020F0502020204030204" pitchFamily="34" charset="0"/>
                <a:cs typeface="Times New Roman" panose="02020603050405020304" pitchFamily="18" charset="0"/>
              </a:endParaRPr>
            </a:p>
          </p:txBody>
        </p:sp>
        <p:cxnSp>
          <p:nvCxnSpPr>
            <p:cNvPr id="35" name="Straight Arrow Connector 34">
              <a:extLst>
                <a:ext uri="{FF2B5EF4-FFF2-40B4-BE49-F238E27FC236}">
                  <a16:creationId xmlns:a16="http://schemas.microsoft.com/office/drawing/2014/main" id="{C2CF9EB6-41EC-F620-352C-764208B49FFC}"/>
                </a:ext>
              </a:extLst>
            </p:cNvPr>
            <p:cNvCxnSpPr/>
            <p:nvPr/>
          </p:nvCxnSpPr>
          <p:spPr>
            <a:xfrm>
              <a:off x="996593" y="708867"/>
              <a:ext cx="2291137" cy="103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43B82028-9FAB-31F6-F288-8BBE79C4D4AD}"/>
                </a:ext>
              </a:extLst>
            </p:cNvPr>
            <p:cNvCxnSpPr/>
            <p:nvPr/>
          </p:nvCxnSpPr>
          <p:spPr>
            <a:xfrm>
              <a:off x="3760342" y="1017069"/>
              <a:ext cx="10274" cy="4779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Rectangle 36">
              <a:extLst>
                <a:ext uri="{FF2B5EF4-FFF2-40B4-BE49-F238E27FC236}">
                  <a16:creationId xmlns:a16="http://schemas.microsoft.com/office/drawing/2014/main" id="{8ABC8824-8359-B063-7E9A-A5F1F9D132EA}"/>
                </a:ext>
              </a:extLst>
            </p:cNvPr>
            <p:cNvSpPr/>
            <p:nvPr/>
          </p:nvSpPr>
          <p:spPr>
            <a:xfrm>
              <a:off x="3287730" y="2347683"/>
              <a:ext cx="1284270" cy="52324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pPr>
              <a:r>
                <a:rPr lang="en-US" sz="1100" b="1">
                  <a:solidFill>
                    <a:srgbClr val="000000"/>
                  </a:solidFill>
                  <a:effectLst/>
                  <a:ea typeface="Calibri" panose="020F0502020204030204" pitchFamily="34" charset="0"/>
                  <a:cs typeface="Times New Roman" panose="02020603050405020304" pitchFamily="18" charset="0"/>
                </a:rPr>
                <a:t>Algorithm</a:t>
              </a:r>
              <a:endParaRPr lang="en-IN" sz="1100">
                <a:solidFill>
                  <a:srgbClr val="000000"/>
                </a:solidFill>
                <a:effectLst/>
                <a:ea typeface="Calibri" panose="020F0502020204030204" pitchFamily="34" charset="0"/>
                <a:cs typeface="Times New Roman" panose="02020603050405020304" pitchFamily="18" charset="0"/>
              </a:endParaRPr>
            </a:p>
          </p:txBody>
        </p:sp>
        <p:cxnSp>
          <p:nvCxnSpPr>
            <p:cNvPr id="38" name="Straight Arrow Connector 37">
              <a:extLst>
                <a:ext uri="{FF2B5EF4-FFF2-40B4-BE49-F238E27FC236}">
                  <a16:creationId xmlns:a16="http://schemas.microsoft.com/office/drawing/2014/main" id="{37867B5A-5892-811B-0D38-15C5D259DC03}"/>
                </a:ext>
              </a:extLst>
            </p:cNvPr>
            <p:cNvCxnSpPr>
              <a:stCxn id="30" idx="3"/>
            </p:cNvCxnSpPr>
            <p:nvPr/>
          </p:nvCxnSpPr>
          <p:spPr>
            <a:xfrm>
              <a:off x="2702071" y="2567636"/>
              <a:ext cx="585659" cy="7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03E0536-0A93-0D39-DE02-4667B50C06A5}"/>
                </a:ext>
              </a:extLst>
            </p:cNvPr>
            <p:cNvCxnSpPr/>
            <p:nvPr/>
          </p:nvCxnSpPr>
          <p:spPr>
            <a:xfrm flipH="1">
              <a:off x="3904180" y="2870724"/>
              <a:ext cx="10275" cy="4717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Rectangle 39">
              <a:extLst>
                <a:ext uri="{FF2B5EF4-FFF2-40B4-BE49-F238E27FC236}">
                  <a16:creationId xmlns:a16="http://schemas.microsoft.com/office/drawing/2014/main" id="{11AD8914-5C08-9776-DC6B-2620DF95E177}"/>
                </a:ext>
              </a:extLst>
            </p:cNvPr>
            <p:cNvSpPr/>
            <p:nvPr/>
          </p:nvSpPr>
          <p:spPr>
            <a:xfrm>
              <a:off x="3303343" y="3385274"/>
              <a:ext cx="1268657" cy="52260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pPr>
              <a:r>
                <a:rPr lang="en-US" sz="1100" b="1">
                  <a:solidFill>
                    <a:srgbClr val="000000"/>
                  </a:solidFill>
                  <a:effectLst/>
                  <a:ea typeface="Calibri" panose="020F0502020204030204" pitchFamily="34" charset="0"/>
                  <a:cs typeface="Times New Roman" panose="02020603050405020304" pitchFamily="18" charset="0"/>
                </a:rPr>
                <a:t>Enter Disease</a:t>
              </a:r>
              <a:endParaRPr lang="en-IN" sz="1100">
                <a:solidFill>
                  <a:srgbClr val="000000"/>
                </a:solidFill>
                <a:effectLst/>
                <a:ea typeface="Calibri" panose="020F0502020204030204" pitchFamily="34" charset="0"/>
                <a:cs typeface="Times New Roman" panose="02020603050405020304" pitchFamily="18" charset="0"/>
              </a:endParaRPr>
            </a:p>
          </p:txBody>
        </p:sp>
        <p:sp>
          <p:nvSpPr>
            <p:cNvPr id="41" name="Rectangle 40">
              <a:extLst>
                <a:ext uri="{FF2B5EF4-FFF2-40B4-BE49-F238E27FC236}">
                  <a16:creationId xmlns:a16="http://schemas.microsoft.com/office/drawing/2014/main" id="{007CE724-8694-B225-6E93-A0AE6F84BB5D}"/>
                </a:ext>
              </a:extLst>
            </p:cNvPr>
            <p:cNvSpPr/>
            <p:nvPr/>
          </p:nvSpPr>
          <p:spPr>
            <a:xfrm>
              <a:off x="3210877" y="4381503"/>
              <a:ext cx="1402220" cy="52197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pPr>
              <a:r>
                <a:rPr lang="en-US" sz="1100" b="1">
                  <a:solidFill>
                    <a:srgbClr val="000000"/>
                  </a:solidFill>
                  <a:effectLst/>
                  <a:ea typeface="Calibri" panose="020F0502020204030204" pitchFamily="34" charset="0"/>
                  <a:cs typeface="Times New Roman" panose="02020603050405020304" pitchFamily="18" charset="0"/>
                </a:rPr>
                <a:t>View Recommendation</a:t>
              </a:r>
              <a:endParaRPr lang="en-IN" sz="1100">
                <a:solidFill>
                  <a:srgbClr val="000000"/>
                </a:solidFill>
                <a:effectLst/>
                <a:ea typeface="Calibri" panose="020F0502020204030204" pitchFamily="34" charset="0"/>
                <a:cs typeface="Times New Roman" panose="02020603050405020304" pitchFamily="18" charset="0"/>
              </a:endParaRPr>
            </a:p>
          </p:txBody>
        </p:sp>
        <p:cxnSp>
          <p:nvCxnSpPr>
            <p:cNvPr id="42" name="Straight Arrow Connector 41">
              <a:extLst>
                <a:ext uri="{FF2B5EF4-FFF2-40B4-BE49-F238E27FC236}">
                  <a16:creationId xmlns:a16="http://schemas.microsoft.com/office/drawing/2014/main" id="{5A719817-52C8-0265-9C2A-BF2E677F25C0}"/>
                </a:ext>
              </a:extLst>
            </p:cNvPr>
            <p:cNvCxnSpPr/>
            <p:nvPr/>
          </p:nvCxnSpPr>
          <p:spPr>
            <a:xfrm>
              <a:off x="3904180" y="3909528"/>
              <a:ext cx="10275" cy="4364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3F9E63D8-7576-C427-7226-A60715F5FACC}"/>
                </a:ext>
              </a:extLst>
            </p:cNvPr>
            <p:cNvCxnSpPr/>
            <p:nvPr/>
          </p:nvCxnSpPr>
          <p:spPr>
            <a:xfrm>
              <a:off x="3883777" y="4885564"/>
              <a:ext cx="10160" cy="4362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Rectangle 43">
              <a:extLst>
                <a:ext uri="{FF2B5EF4-FFF2-40B4-BE49-F238E27FC236}">
                  <a16:creationId xmlns:a16="http://schemas.microsoft.com/office/drawing/2014/main" id="{0C5CC14C-0995-891B-BB82-8602B7E628A0}"/>
                </a:ext>
              </a:extLst>
            </p:cNvPr>
            <p:cNvSpPr/>
            <p:nvPr/>
          </p:nvSpPr>
          <p:spPr>
            <a:xfrm>
              <a:off x="3211017" y="5321704"/>
              <a:ext cx="1402080" cy="52133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pPr>
              <a:r>
                <a:rPr lang="en-US" sz="1100" b="1">
                  <a:solidFill>
                    <a:srgbClr val="000000"/>
                  </a:solidFill>
                  <a:effectLst/>
                  <a:ea typeface="Calibri" panose="020F0502020204030204" pitchFamily="34" charset="0"/>
                  <a:cs typeface="Times New Roman" panose="02020603050405020304" pitchFamily="18" charset="0"/>
                </a:rPr>
                <a:t>Logout</a:t>
              </a:r>
              <a:endParaRPr lang="en-IN" sz="1100">
                <a:solidFill>
                  <a:srgbClr val="000000"/>
                </a:solidFill>
                <a:effectLst/>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4182066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AD823-B8F6-4E18-95C6-56FCED37445E}"/>
              </a:ext>
            </a:extLst>
          </p:cNvPr>
          <p:cNvSpPr>
            <a:spLocks noGrp="1"/>
          </p:cNvSpPr>
          <p:nvPr>
            <p:ph type="title"/>
          </p:nvPr>
        </p:nvSpPr>
        <p:spPr/>
        <p:txBody>
          <a:bodyPr/>
          <a:lstStyle/>
          <a:p>
            <a:r>
              <a:rPr lang="en-US" sz="2400" dirty="0">
                <a:latin typeface="Times New Roman" pitchFamily="18" charset="0"/>
                <a:cs typeface="Times New Roman" pitchFamily="18" charset="0"/>
              </a:rPr>
              <a:t>ALGORITHM </a:t>
            </a:r>
            <a:endParaRPr lang="en-IN" sz="2400" dirty="0">
              <a:latin typeface="Times New Roman" pitchFamily="18" charset="0"/>
              <a:cs typeface="Times New Roman" pitchFamily="18" charset="0"/>
            </a:endParaRPr>
          </a:p>
        </p:txBody>
      </p:sp>
      <p:sp>
        <p:nvSpPr>
          <p:cNvPr id="3" name="Text Placeholder 2">
            <a:extLst>
              <a:ext uri="{FF2B5EF4-FFF2-40B4-BE49-F238E27FC236}">
                <a16:creationId xmlns:a16="http://schemas.microsoft.com/office/drawing/2014/main" id="{514681C1-68A4-4DE1-B55D-2D9A3EECCA0B}"/>
              </a:ext>
            </a:extLst>
          </p:cNvPr>
          <p:cNvSpPr>
            <a:spLocks noGrp="1"/>
          </p:cNvSpPr>
          <p:nvPr>
            <p:ph type="body" idx="1"/>
          </p:nvPr>
        </p:nvSpPr>
        <p:spPr>
          <a:xfrm>
            <a:off x="509451" y="1413213"/>
            <a:ext cx="8072846" cy="3337712"/>
          </a:xfrm>
        </p:spPr>
        <p:txBody>
          <a:bodyPr/>
          <a:lstStyle/>
          <a:p>
            <a:pPr marL="285750" indent="-285750">
              <a:lnSpc>
                <a:spcPct val="150000"/>
              </a:lnSpc>
              <a:spcBef>
                <a:spcPts val="1200"/>
              </a:spcBef>
              <a:spcAft>
                <a:spcPts val="1200"/>
              </a:spcAft>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SVM </a:t>
            </a:r>
          </a:p>
          <a:p>
            <a:pPr marL="285750" indent="-285750">
              <a:lnSpc>
                <a:spcPct val="150000"/>
              </a:lnSpc>
              <a:spcBef>
                <a:spcPts val="1200"/>
              </a:spcBef>
              <a:spcAft>
                <a:spcPts val="1200"/>
              </a:spcAft>
            </a:pPr>
            <a:r>
              <a:rPr lang="en-US" sz="1800" b="0" i="0" dirty="0">
                <a:solidFill>
                  <a:srgbClr val="273239"/>
                </a:solidFill>
                <a:effectLst/>
                <a:latin typeface="Times New Roman" panose="02020603050405020304" pitchFamily="18" charset="0"/>
                <a:cs typeface="Times New Roman" panose="02020603050405020304" pitchFamily="18" charset="0"/>
              </a:rPr>
              <a:t>Support Vector Machine (SVM) is a relatively simple </a:t>
            </a:r>
            <a:r>
              <a:rPr lang="en-US" sz="1800" b="1" i="0" dirty="0">
                <a:solidFill>
                  <a:srgbClr val="273239"/>
                </a:solidFill>
                <a:effectLst/>
                <a:latin typeface="Times New Roman" panose="02020603050405020304" pitchFamily="18" charset="0"/>
                <a:cs typeface="Times New Roman" panose="02020603050405020304" pitchFamily="18" charset="0"/>
              </a:rPr>
              <a:t>Supervised Machine Learning Algorithm</a:t>
            </a:r>
            <a:r>
              <a:rPr lang="en-US" sz="1800" b="0" i="0" dirty="0">
                <a:solidFill>
                  <a:srgbClr val="273239"/>
                </a:solidFill>
                <a:effectLst/>
                <a:latin typeface="Times New Roman" panose="02020603050405020304" pitchFamily="18" charset="0"/>
                <a:cs typeface="Times New Roman" panose="02020603050405020304" pitchFamily="18" charset="0"/>
              </a:rPr>
              <a:t> used for classification and/or regression. It is more preferred for classification but is sometimes very useful for regression as well. </a:t>
            </a:r>
            <a:endPar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65CD728-BDB2-481E-B191-F726AED398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extLst>
      <p:ext uri="{BB962C8B-B14F-4D97-AF65-F5344CB8AC3E}">
        <p14:creationId xmlns:p14="http://schemas.microsoft.com/office/powerpoint/2010/main" val="49012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70E6D-95E2-4379-8A49-FE8C1880EF66}"/>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MODULES</a:t>
            </a:r>
            <a:endParaRPr lang="en-I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6719E3C-19A6-47F5-8F8C-20872158AA35}"/>
              </a:ext>
            </a:extLst>
          </p:cNvPr>
          <p:cNvSpPr>
            <a:spLocks noGrp="1"/>
          </p:cNvSpPr>
          <p:nvPr>
            <p:ph type="body" idx="1"/>
          </p:nvPr>
        </p:nvSpPr>
        <p:spPr>
          <a:xfrm>
            <a:off x="569187" y="1440295"/>
            <a:ext cx="7792513" cy="2977211"/>
          </a:xfrm>
        </p:spPr>
        <p:txBody>
          <a:bodyPr/>
          <a:lstStyle/>
          <a:p>
            <a:pPr marL="228600" indent="0" algn="just">
              <a:lnSpc>
                <a:spcPct val="150000"/>
              </a:lnSpc>
              <a:spcBef>
                <a:spcPts val="1200"/>
              </a:spcBef>
              <a:spcAft>
                <a:spcPts val="12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Project has </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one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modules,</a:t>
            </a:r>
          </a:p>
          <a:p>
            <a:pPr marL="571500" indent="-342900" algn="just">
              <a:lnSpc>
                <a:spcPct val="150000"/>
              </a:lnSpc>
              <a:spcBef>
                <a:spcPts val="1200"/>
              </a:spcBef>
              <a:spcAft>
                <a:spcPts val="1200"/>
              </a:spcAft>
              <a:buAutoNum type="arabicPeriod"/>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User</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F294BDD-1CAA-4340-A812-7EB026C53D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extLst>
      <p:ext uri="{BB962C8B-B14F-4D97-AF65-F5344CB8AC3E}">
        <p14:creationId xmlns:p14="http://schemas.microsoft.com/office/powerpoint/2010/main" val="1994592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75017-27AF-477A-937E-924C624A40C2}"/>
              </a:ext>
            </a:extLst>
          </p:cNvPr>
          <p:cNvSpPr>
            <a:spLocks noGrp="1"/>
          </p:cNvSpPr>
          <p:nvPr>
            <p:ph type="title"/>
          </p:nvPr>
        </p:nvSpPr>
        <p:spPr>
          <a:xfrm>
            <a:off x="814275" y="271551"/>
            <a:ext cx="5258400" cy="766200"/>
          </a:xfrm>
        </p:spPr>
        <p:txBody>
          <a:bodyPr/>
          <a:lstStyle/>
          <a:p>
            <a:pPr marL="342900" indent="-342900" algn="just">
              <a:lnSpc>
                <a:spcPct val="150000"/>
              </a:lnSpc>
              <a:spcBef>
                <a:spcPts val="0"/>
              </a:spcBef>
              <a:buSzPts val="2400"/>
            </a:pPr>
            <a:r>
              <a:rPr lang="en-US" sz="2400" dirty="0">
                <a:solidFill>
                  <a:schemeClr val="bg1"/>
                </a:solidFill>
                <a:latin typeface="Times New Roman" panose="02020603050405020304" pitchFamily="18" charset="0"/>
                <a:ea typeface="Times New Roman"/>
                <a:cs typeface="Times New Roman" panose="02020603050405020304" pitchFamily="18" charset="0"/>
                <a:sym typeface="Times New Roman"/>
              </a:rPr>
              <a:t>USER</a:t>
            </a:r>
          </a:p>
        </p:txBody>
      </p:sp>
      <p:sp>
        <p:nvSpPr>
          <p:cNvPr id="3" name="Text Placeholder 2">
            <a:extLst>
              <a:ext uri="{FF2B5EF4-FFF2-40B4-BE49-F238E27FC236}">
                <a16:creationId xmlns:a16="http://schemas.microsoft.com/office/drawing/2014/main" id="{E4D4A20E-0B6E-4A6C-A06A-2ED4471832A2}"/>
              </a:ext>
            </a:extLst>
          </p:cNvPr>
          <p:cNvSpPr>
            <a:spLocks noGrp="1"/>
          </p:cNvSpPr>
          <p:nvPr>
            <p:ph type="body" idx="1"/>
          </p:nvPr>
        </p:nvSpPr>
        <p:spPr>
          <a:xfrm>
            <a:off x="-195943" y="1474610"/>
            <a:ext cx="9535885" cy="4350220"/>
          </a:xfrm>
        </p:spPr>
        <p:txBody>
          <a:bodyPr/>
          <a:lstStyle/>
          <a:p>
            <a:pPr marL="1200150" lvl="2" indent="-285750">
              <a:spcBef>
                <a:spcPts val="1200"/>
              </a:spcBef>
              <a:spcAft>
                <a:spcPts val="1200"/>
              </a:spcAft>
              <a:buClr>
                <a:schemeClr val="tx1">
                  <a:lumMod val="60000"/>
                  <a:lumOff val="40000"/>
                </a:schemeClr>
              </a:buClr>
              <a:buFont typeface="Wingdings" panose="05000000000000000000" pitchFamily="2" charset="2"/>
              <a:buChar char="§"/>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User can register the account with the basic information</a:t>
            </a:r>
          </a:p>
          <a:p>
            <a:pPr marL="1200150" lvl="2" indent="-285750">
              <a:spcBef>
                <a:spcPts val="1200"/>
              </a:spcBef>
              <a:spcAft>
                <a:spcPts val="1200"/>
              </a:spcAft>
              <a:buClr>
                <a:schemeClr val="tx1">
                  <a:lumMod val="60000"/>
                  <a:lumOff val="40000"/>
                </a:schemeClr>
              </a:buClr>
              <a:buFont typeface="Wingdings" panose="05000000000000000000" pitchFamily="2" charset="2"/>
              <a:buChar char="§"/>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 After register user can login the account with the correct credentials</a:t>
            </a:r>
          </a:p>
          <a:p>
            <a:pPr marL="1200150" lvl="2" indent="-285750">
              <a:spcBef>
                <a:spcPts val="1200"/>
              </a:spcBef>
              <a:spcAft>
                <a:spcPts val="1200"/>
              </a:spcAft>
              <a:buClr>
                <a:schemeClr val="tx1">
                  <a:lumMod val="60000"/>
                  <a:lumOff val="40000"/>
                </a:schemeClr>
              </a:buClr>
              <a:buFont typeface="Wingdings" panose="05000000000000000000" pitchFamily="2" charset="2"/>
              <a:buChar char="§"/>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 View the Profile</a:t>
            </a:r>
          </a:p>
          <a:p>
            <a:pPr marL="1200150" lvl="2" indent="-285750">
              <a:spcBef>
                <a:spcPts val="1200"/>
              </a:spcBef>
              <a:spcAft>
                <a:spcPts val="1200"/>
              </a:spcAft>
              <a:buClr>
                <a:schemeClr val="tx1">
                  <a:lumMod val="60000"/>
                  <a:lumOff val="40000"/>
                </a:schemeClr>
              </a:buClr>
              <a:buFont typeface="Wingdings" panose="05000000000000000000" pitchFamily="2" charset="2"/>
              <a:buChar char="§"/>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Upload the dataset </a:t>
            </a:r>
          </a:p>
          <a:p>
            <a:pPr marL="1200150" lvl="2" indent="-285750">
              <a:spcBef>
                <a:spcPts val="1200"/>
              </a:spcBef>
              <a:spcAft>
                <a:spcPts val="1200"/>
              </a:spcAft>
              <a:buClr>
                <a:schemeClr val="tx1">
                  <a:lumMod val="60000"/>
                  <a:lumOff val="40000"/>
                </a:schemeClr>
              </a:buClr>
              <a:buFont typeface="Wingdings" panose="05000000000000000000" pitchFamily="2" charset="2"/>
              <a:buChar char="§"/>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Using Algorithm to see Result </a:t>
            </a:r>
          </a:p>
          <a:p>
            <a:pPr marL="1200150" lvl="2" indent="-285750">
              <a:spcBef>
                <a:spcPts val="1200"/>
              </a:spcBef>
              <a:spcAft>
                <a:spcPts val="1200"/>
              </a:spcAft>
              <a:buClr>
                <a:schemeClr val="tx1">
                  <a:lumMod val="60000"/>
                  <a:lumOff val="40000"/>
                </a:schemeClr>
              </a:buClr>
              <a:buFont typeface="Wingdings" panose="05000000000000000000" pitchFamily="2" charset="2"/>
              <a:buChar char="§"/>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 User can enter the diseases ,for that diseases the Drugs should be recommended</a:t>
            </a:r>
          </a:p>
          <a:p>
            <a:pPr marL="1200150" lvl="2" indent="-285750">
              <a:spcBef>
                <a:spcPts val="1200"/>
              </a:spcBef>
              <a:spcAft>
                <a:spcPts val="1200"/>
              </a:spcAft>
              <a:buClr>
                <a:schemeClr val="tx1">
                  <a:lumMod val="60000"/>
                  <a:lumOff val="40000"/>
                </a:schemeClr>
              </a:buClr>
              <a:buFont typeface="Wingdings" panose="05000000000000000000" pitchFamily="2" charset="2"/>
              <a:buChar char="§"/>
            </a:pPr>
            <a:endParaRPr lang="en-US" sz="18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084F1C1-3678-4CBC-8328-FAEB49D00F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4066362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47B24-CA3E-4802-AC8A-56E9AFBC819E}"/>
              </a:ext>
            </a:extLst>
          </p:cNvPr>
          <p:cNvSpPr>
            <a:spLocks noGrp="1"/>
          </p:cNvSpPr>
          <p:nvPr>
            <p:ph type="title"/>
          </p:nvPr>
        </p:nvSpPr>
        <p:spPr/>
        <p:txBody>
          <a:bodyPr/>
          <a:lstStyle/>
          <a:p>
            <a:r>
              <a:rPr lang="en-US" sz="2400" b="1" dirty="0">
                <a:latin typeface="Times New Roman" panose="02020603050405020304" pitchFamily="18" charset="0"/>
                <a:cs typeface="Times New Roman" panose="02020603050405020304" pitchFamily="18" charset="0"/>
              </a:rPr>
              <a:t>HARDWARE REQUIREMENTS</a:t>
            </a:r>
            <a:endParaRPr lang="en-IN" sz="2400" dirty="0"/>
          </a:p>
        </p:txBody>
      </p:sp>
      <p:sp>
        <p:nvSpPr>
          <p:cNvPr id="3" name="Text Placeholder 2">
            <a:extLst>
              <a:ext uri="{FF2B5EF4-FFF2-40B4-BE49-F238E27FC236}">
                <a16:creationId xmlns:a16="http://schemas.microsoft.com/office/drawing/2014/main" id="{03D36A18-20C8-45A2-BD8A-4F218818DA0A}"/>
              </a:ext>
            </a:extLst>
          </p:cNvPr>
          <p:cNvSpPr>
            <a:spLocks noGrp="1"/>
          </p:cNvSpPr>
          <p:nvPr>
            <p:ph type="body" idx="1"/>
          </p:nvPr>
        </p:nvSpPr>
        <p:spPr>
          <a:xfrm>
            <a:off x="814274" y="1312210"/>
            <a:ext cx="7479719" cy="2724300"/>
          </a:xfrm>
        </p:spPr>
        <p:txBody>
          <a:bodyPr/>
          <a:lstStyle/>
          <a:p>
            <a:pPr marL="0" indent="0">
              <a:buNone/>
            </a:pPr>
            <a:endParaRPr lang="en-IN" sz="1800" dirty="0">
              <a:latin typeface="Times New Roman" panose="02020603050405020304" pitchFamily="18" charset="0"/>
              <a:cs typeface="Times New Roman" panose="02020603050405020304" pitchFamily="18" charset="0"/>
            </a:endParaRPr>
          </a:p>
          <a:p>
            <a:pPr marL="101600" indent="0">
              <a:buNone/>
            </a:pPr>
            <a:endParaRPr lang="en-IN" sz="18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26F7FAC-C5E2-4168-AD80-94960E7AFF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graphicFrame>
        <p:nvGraphicFramePr>
          <p:cNvPr id="4" name="Table 3">
            <a:extLst>
              <a:ext uri="{FF2B5EF4-FFF2-40B4-BE49-F238E27FC236}">
                <a16:creationId xmlns:a16="http://schemas.microsoft.com/office/drawing/2014/main" id="{74B889DE-A808-491E-A1D8-E8352B55304F}"/>
              </a:ext>
            </a:extLst>
          </p:cNvPr>
          <p:cNvGraphicFramePr>
            <a:graphicFrameLocks noGrp="1"/>
          </p:cNvGraphicFramePr>
          <p:nvPr>
            <p:extLst>
              <p:ext uri="{D42A27DB-BD31-4B8C-83A1-F6EECF244321}">
                <p14:modId xmlns:p14="http://schemas.microsoft.com/office/powerpoint/2010/main" val="2653227960"/>
              </p:ext>
            </p:extLst>
          </p:nvPr>
        </p:nvGraphicFramePr>
        <p:xfrm>
          <a:off x="2332870" y="1648325"/>
          <a:ext cx="3726861" cy="2910922"/>
        </p:xfrm>
        <a:graphic>
          <a:graphicData uri="http://schemas.openxmlformats.org/drawingml/2006/table">
            <a:tbl>
              <a:tblPr firstRow="1" firstCol="1" bandRow="1">
                <a:tableStyleId>{E27665BA-8202-44FC-AD62-C9F0E3EA811A}</a:tableStyleId>
              </a:tblPr>
              <a:tblGrid>
                <a:gridCol w="1140460">
                  <a:extLst>
                    <a:ext uri="{9D8B030D-6E8A-4147-A177-3AD203B41FA5}">
                      <a16:colId xmlns:a16="http://schemas.microsoft.com/office/drawing/2014/main" val="1335803841"/>
                    </a:ext>
                  </a:extLst>
                </a:gridCol>
                <a:gridCol w="2586401">
                  <a:extLst>
                    <a:ext uri="{9D8B030D-6E8A-4147-A177-3AD203B41FA5}">
                      <a16:colId xmlns:a16="http://schemas.microsoft.com/office/drawing/2014/main" val="969546799"/>
                    </a:ext>
                  </a:extLst>
                </a:gridCol>
              </a:tblGrid>
              <a:tr h="584150">
                <a:tc>
                  <a:txBody>
                    <a:bodyPr/>
                    <a:lstStyle/>
                    <a:p>
                      <a:pPr>
                        <a:lnSpc>
                          <a:spcPct val="200000"/>
                        </a:lnSpc>
                        <a:spcAft>
                          <a:spcPts val="800"/>
                        </a:spcAft>
                      </a:pPr>
                      <a:r>
                        <a:rPr lang="en-US" sz="1800" dirty="0">
                          <a:effectLst/>
                          <a:latin typeface="Times New Roman" panose="02020603050405020304" pitchFamily="18" charset="0"/>
                          <a:cs typeface="Times New Roman" panose="02020603050405020304" pitchFamily="18" charset="0"/>
                        </a:rPr>
                        <a:t>System </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200000"/>
                        </a:lnSpc>
                        <a:spcAft>
                          <a:spcPts val="800"/>
                        </a:spcAft>
                      </a:pPr>
                      <a:r>
                        <a:rPr lang="en-US" sz="1800">
                          <a:effectLst/>
                          <a:latin typeface="Times New Roman" panose="02020603050405020304" pitchFamily="18" charset="0"/>
                          <a:cs typeface="Times New Roman" panose="02020603050405020304" pitchFamily="18" charset="0"/>
                        </a:rPr>
                        <a:t>Intel i3 and above</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56110793"/>
                  </a:ext>
                </a:extLst>
              </a:tr>
              <a:tr h="600859">
                <a:tc>
                  <a:txBody>
                    <a:bodyPr/>
                    <a:lstStyle/>
                    <a:p>
                      <a:pPr>
                        <a:lnSpc>
                          <a:spcPct val="200000"/>
                        </a:lnSpc>
                        <a:spcAft>
                          <a:spcPts val="800"/>
                        </a:spcAft>
                      </a:pPr>
                      <a:r>
                        <a:rPr lang="en-US" sz="1800" dirty="0">
                          <a:effectLst/>
                          <a:latin typeface="Times New Roman" panose="02020603050405020304" pitchFamily="18" charset="0"/>
                          <a:cs typeface="Times New Roman" panose="02020603050405020304" pitchFamily="18" charset="0"/>
                        </a:rPr>
                        <a:t>Hard Disk</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200000"/>
                        </a:lnSpc>
                        <a:spcAft>
                          <a:spcPts val="800"/>
                        </a:spcAft>
                      </a:pPr>
                      <a:r>
                        <a:rPr lang="en-US" sz="1800">
                          <a:effectLst/>
                          <a:latin typeface="Times New Roman" panose="02020603050405020304" pitchFamily="18" charset="0"/>
                          <a:cs typeface="Times New Roman" panose="02020603050405020304" pitchFamily="18" charset="0"/>
                        </a:rPr>
                        <a:t>40GB</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40832985"/>
                  </a:ext>
                </a:extLst>
              </a:tr>
              <a:tr h="632102">
                <a:tc>
                  <a:txBody>
                    <a:bodyPr/>
                    <a:lstStyle/>
                    <a:p>
                      <a:pPr>
                        <a:lnSpc>
                          <a:spcPct val="200000"/>
                        </a:lnSpc>
                        <a:spcAft>
                          <a:spcPts val="800"/>
                        </a:spcAft>
                      </a:pPr>
                      <a:r>
                        <a:rPr lang="en-US" sz="1800">
                          <a:effectLst/>
                          <a:latin typeface="Times New Roman" panose="02020603050405020304" pitchFamily="18" charset="0"/>
                          <a:cs typeface="Times New Roman" panose="02020603050405020304" pitchFamily="18" charset="0"/>
                        </a:rPr>
                        <a:t>RAM</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200000"/>
                        </a:lnSpc>
                        <a:spcAft>
                          <a:spcPts val="800"/>
                        </a:spcAft>
                      </a:pPr>
                      <a:r>
                        <a:rPr lang="en-US" sz="1800" dirty="0">
                          <a:effectLst/>
                          <a:latin typeface="Times New Roman" panose="02020603050405020304" pitchFamily="18" charset="0"/>
                          <a:cs typeface="Times New Roman" panose="02020603050405020304" pitchFamily="18" charset="0"/>
                        </a:rPr>
                        <a:t>Minimum 4GB</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93645137"/>
                  </a:ext>
                </a:extLst>
              </a:tr>
              <a:tr h="1093811">
                <a:tc>
                  <a:txBody>
                    <a:bodyPr/>
                    <a:lstStyle/>
                    <a:p>
                      <a:pPr>
                        <a:lnSpc>
                          <a:spcPct val="200000"/>
                        </a:lnSpc>
                        <a:spcAft>
                          <a:spcPts val="800"/>
                        </a:spcAft>
                      </a:pPr>
                      <a:r>
                        <a:rPr lang="en-US" sz="1800">
                          <a:effectLst/>
                          <a:latin typeface="Times New Roman" panose="02020603050405020304" pitchFamily="18" charset="0"/>
                          <a:cs typeface="Times New Roman" panose="02020603050405020304" pitchFamily="18" charset="0"/>
                        </a:rPr>
                        <a:t>Processor</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200000"/>
                        </a:lnSpc>
                        <a:spcAft>
                          <a:spcPts val="800"/>
                        </a:spcAft>
                      </a:pPr>
                      <a:r>
                        <a:rPr lang="en-IN" sz="1800" dirty="0">
                          <a:effectLst/>
                          <a:latin typeface="Times New Roman" panose="02020603050405020304" pitchFamily="18" charset="0"/>
                          <a:cs typeface="Times New Roman" panose="02020603050405020304" pitchFamily="18" charset="0"/>
                        </a:rPr>
                        <a:t>64-bit, four-core, 2.5 GHz minimum per core</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0488737"/>
                  </a:ext>
                </a:extLst>
              </a:tr>
            </a:tbl>
          </a:graphicData>
        </a:graphic>
      </p:graphicFrame>
    </p:spTree>
    <p:extLst>
      <p:ext uri="{BB962C8B-B14F-4D97-AF65-F5344CB8AC3E}">
        <p14:creationId xmlns:p14="http://schemas.microsoft.com/office/powerpoint/2010/main" val="3059664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8FF4B-38FD-47CD-8769-05353407D238}"/>
              </a:ext>
            </a:extLst>
          </p:cNvPr>
          <p:cNvSpPr>
            <a:spLocks noGrp="1"/>
          </p:cNvSpPr>
          <p:nvPr>
            <p:ph type="title"/>
          </p:nvPr>
        </p:nvSpPr>
        <p:spPr/>
        <p:txBody>
          <a:bodyPr/>
          <a:lstStyle/>
          <a:p>
            <a:r>
              <a:rPr lang="en-US" sz="2400" b="1" dirty="0">
                <a:latin typeface="Times New Roman" panose="02020603050405020304" pitchFamily="18" charset="0"/>
                <a:cs typeface="Times New Roman" panose="02020603050405020304" pitchFamily="18" charset="0"/>
              </a:rPr>
              <a:t>SOFTWARE REQUIREMENTS</a:t>
            </a:r>
            <a:endParaRPr lang="en-IN" sz="2400" dirty="0"/>
          </a:p>
        </p:txBody>
      </p:sp>
      <p:sp>
        <p:nvSpPr>
          <p:cNvPr id="5" name="Slide Number Placeholder 4">
            <a:extLst>
              <a:ext uri="{FF2B5EF4-FFF2-40B4-BE49-F238E27FC236}">
                <a16:creationId xmlns:a16="http://schemas.microsoft.com/office/drawing/2014/main" id="{B05DE1C6-1332-4DA7-AC8D-FCD62818339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graphicFrame>
        <p:nvGraphicFramePr>
          <p:cNvPr id="8" name="Table 7">
            <a:extLst>
              <a:ext uri="{FF2B5EF4-FFF2-40B4-BE49-F238E27FC236}">
                <a16:creationId xmlns:a16="http://schemas.microsoft.com/office/drawing/2014/main" id="{63C0BB94-5E3E-4739-9448-AA8F96DCCC0A}"/>
              </a:ext>
            </a:extLst>
          </p:cNvPr>
          <p:cNvGraphicFramePr>
            <a:graphicFrameLocks noGrp="1"/>
          </p:cNvGraphicFramePr>
          <p:nvPr>
            <p:extLst>
              <p:ext uri="{D42A27DB-BD31-4B8C-83A1-F6EECF244321}">
                <p14:modId xmlns:p14="http://schemas.microsoft.com/office/powerpoint/2010/main" val="4010727671"/>
              </p:ext>
            </p:extLst>
          </p:nvPr>
        </p:nvGraphicFramePr>
        <p:xfrm>
          <a:off x="1624013" y="1669977"/>
          <a:ext cx="4957092" cy="2951453"/>
        </p:xfrm>
        <a:graphic>
          <a:graphicData uri="http://schemas.openxmlformats.org/drawingml/2006/table">
            <a:tbl>
              <a:tblPr firstRow="1" firstCol="1" bandRow="1">
                <a:tableStyleId>{E27665BA-8202-44FC-AD62-C9F0E3EA811A}</a:tableStyleId>
              </a:tblPr>
              <a:tblGrid>
                <a:gridCol w="1925303">
                  <a:extLst>
                    <a:ext uri="{9D8B030D-6E8A-4147-A177-3AD203B41FA5}">
                      <a16:colId xmlns:a16="http://schemas.microsoft.com/office/drawing/2014/main" val="2104203393"/>
                    </a:ext>
                  </a:extLst>
                </a:gridCol>
                <a:gridCol w="3031789">
                  <a:extLst>
                    <a:ext uri="{9D8B030D-6E8A-4147-A177-3AD203B41FA5}">
                      <a16:colId xmlns:a16="http://schemas.microsoft.com/office/drawing/2014/main" val="3807746185"/>
                    </a:ext>
                  </a:extLst>
                </a:gridCol>
              </a:tblGrid>
              <a:tr h="1067222">
                <a:tc>
                  <a:txBody>
                    <a:bodyPr/>
                    <a:lstStyle/>
                    <a:p>
                      <a:pPr algn="l">
                        <a:lnSpc>
                          <a:spcPct val="150000"/>
                        </a:lnSpc>
                        <a:spcAft>
                          <a:spcPts val="800"/>
                        </a:spcAft>
                      </a:pPr>
                      <a:r>
                        <a:rPr lang="en-IN" sz="1800">
                          <a:effectLst/>
                          <a:latin typeface="Times New Roman" panose="02020603050405020304" pitchFamily="18" charset="0"/>
                          <a:cs typeface="Times New Roman" panose="02020603050405020304" pitchFamily="18" charset="0"/>
                        </a:rPr>
                        <a:t>Front End Language</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50000"/>
                        </a:lnSpc>
                        <a:spcAft>
                          <a:spcPts val="800"/>
                        </a:spcAft>
                      </a:pPr>
                      <a:r>
                        <a:rPr lang="en-IN" sz="1800" dirty="0">
                          <a:effectLst/>
                          <a:latin typeface="Times New Roman" panose="02020603050405020304" pitchFamily="18" charset="0"/>
                          <a:cs typeface="Times New Roman" panose="02020603050405020304" pitchFamily="18" charset="0"/>
                        </a:rPr>
                        <a:t>HTML, CSS, JAVA, JSP SERVELTS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19063774"/>
                  </a:ext>
                </a:extLst>
              </a:tr>
              <a:tr h="483450">
                <a:tc>
                  <a:txBody>
                    <a:bodyPr/>
                    <a:lstStyle/>
                    <a:p>
                      <a:pPr algn="l">
                        <a:lnSpc>
                          <a:spcPct val="150000"/>
                        </a:lnSpc>
                        <a:spcAft>
                          <a:spcPts val="800"/>
                        </a:spcAft>
                      </a:pPr>
                      <a:r>
                        <a:rPr lang="en-IN" sz="1800">
                          <a:effectLst/>
                          <a:latin typeface="Times New Roman" panose="02020603050405020304" pitchFamily="18" charset="0"/>
                          <a:cs typeface="Times New Roman" panose="02020603050405020304" pitchFamily="18" charset="0"/>
                        </a:rPr>
                        <a:t>Backend</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50000"/>
                        </a:lnSpc>
                        <a:spcAft>
                          <a:spcPts val="800"/>
                        </a:spcAft>
                      </a:pPr>
                      <a:r>
                        <a:rPr lang="en-IN" sz="1800">
                          <a:effectLst/>
                          <a:latin typeface="Times New Roman" panose="02020603050405020304" pitchFamily="18" charset="0"/>
                          <a:cs typeface="Times New Roman" panose="02020603050405020304" pitchFamily="18" charset="0"/>
                        </a:rPr>
                        <a:t>My SQL</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1286320"/>
                  </a:ext>
                </a:extLst>
              </a:tr>
              <a:tr h="483450">
                <a:tc>
                  <a:txBody>
                    <a:bodyPr/>
                    <a:lstStyle/>
                    <a:p>
                      <a:pPr algn="l">
                        <a:lnSpc>
                          <a:spcPct val="150000"/>
                        </a:lnSpc>
                        <a:spcAft>
                          <a:spcPts val="800"/>
                        </a:spcAft>
                      </a:pPr>
                      <a:r>
                        <a:rPr lang="en-IN" sz="1800">
                          <a:effectLst/>
                          <a:latin typeface="Times New Roman" panose="02020603050405020304" pitchFamily="18" charset="0"/>
                          <a:cs typeface="Times New Roman" panose="02020603050405020304" pitchFamily="18" charset="0"/>
                        </a:rPr>
                        <a:t>Operating System</a:t>
                      </a:r>
                      <a:endParaRPr lang="en-I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50000"/>
                        </a:lnSpc>
                        <a:spcAft>
                          <a:spcPts val="800"/>
                        </a:spcAft>
                      </a:pPr>
                      <a:r>
                        <a:rPr lang="en-IN" sz="1800" dirty="0">
                          <a:effectLst/>
                          <a:latin typeface="Times New Roman" panose="02020603050405020304" pitchFamily="18" charset="0"/>
                          <a:cs typeface="Times New Roman" panose="02020603050405020304" pitchFamily="18" charset="0"/>
                        </a:rPr>
                        <a:t>Windows 10 or 11</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93864808"/>
                  </a:ext>
                </a:extLst>
              </a:tr>
              <a:tr h="917331">
                <a:tc>
                  <a:txBody>
                    <a:bodyPr/>
                    <a:lstStyle/>
                    <a:p>
                      <a:pPr algn="l">
                        <a:lnSpc>
                          <a:spcPct val="150000"/>
                        </a:lnSpc>
                        <a:spcAft>
                          <a:spcPts val="800"/>
                        </a:spcAft>
                      </a:pPr>
                      <a:r>
                        <a:rPr lang="en-IN" sz="1800" dirty="0">
                          <a:effectLst/>
                          <a:latin typeface="Times New Roman" panose="02020603050405020304" pitchFamily="18" charset="0"/>
                          <a:cs typeface="Times New Roman" panose="02020603050405020304" pitchFamily="18" charset="0"/>
                        </a:rPr>
                        <a:t>IDE</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50000"/>
                        </a:lnSpc>
                        <a:spcAft>
                          <a:spcPts val="800"/>
                        </a:spcAft>
                      </a:pPr>
                      <a:r>
                        <a:rPr lang="en-IN" sz="1800" dirty="0">
                          <a:effectLst/>
                          <a:latin typeface="Times New Roman" panose="02020603050405020304" pitchFamily="18" charset="0"/>
                          <a:cs typeface="Times New Roman" panose="02020603050405020304" pitchFamily="18" charset="0"/>
                        </a:rPr>
                        <a:t>JAVADEVELIPEMENKIT</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21108203"/>
                  </a:ext>
                </a:extLst>
              </a:tr>
            </a:tbl>
          </a:graphicData>
        </a:graphic>
      </p:graphicFrame>
      <p:sp>
        <p:nvSpPr>
          <p:cNvPr id="9" name="Rectangle 2">
            <a:extLst>
              <a:ext uri="{FF2B5EF4-FFF2-40B4-BE49-F238E27FC236}">
                <a16:creationId xmlns:a16="http://schemas.microsoft.com/office/drawing/2014/main" id="{071164FE-165E-40D8-B75B-96A3B5502D2E}"/>
              </a:ext>
            </a:extLst>
          </p:cNvPr>
          <p:cNvSpPr>
            <a:spLocks noChangeArrowheads="1"/>
          </p:cNvSpPr>
          <p:nvPr/>
        </p:nvSpPr>
        <p:spPr bwMode="auto">
          <a:xfrm>
            <a:off x="1624013" y="18637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542527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C20C4-9B75-4D45-96CD-64E552866F73}"/>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FUTURE WORK</a:t>
            </a:r>
            <a:endParaRPr lang="en-I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98DC350-72BB-4644-8DA5-AD2C7074F91A}"/>
              </a:ext>
            </a:extLst>
          </p:cNvPr>
          <p:cNvSpPr>
            <a:spLocks noGrp="1"/>
          </p:cNvSpPr>
          <p:nvPr>
            <p:ph type="body" idx="1"/>
          </p:nvPr>
        </p:nvSpPr>
        <p:spPr>
          <a:xfrm>
            <a:off x="0" y="1687348"/>
            <a:ext cx="8560154" cy="2724300"/>
          </a:xfrm>
        </p:spPr>
        <p:txBody>
          <a:bodyPr/>
          <a:lstStyle/>
          <a:p>
            <a:pPr algn="just">
              <a:lnSpc>
                <a:spcPct val="150000"/>
              </a:lnSpc>
            </a:pPr>
            <a:r>
              <a:rPr lang="en-US" sz="1800" dirty="0">
                <a:latin typeface="Times New Roman" panose="02020603050405020304" pitchFamily="18" charset="0"/>
                <a:cs typeface="Times New Roman" panose="02020603050405020304" pitchFamily="18" charset="0"/>
              </a:rPr>
              <a:t>Future work involves comparison of different oversampling techniques, using different values of n-grams, and optimization of algorithms to improve the performance of the recommender system</a:t>
            </a:r>
            <a:endParaRPr lang="en-US" sz="1800" dirty="0">
              <a:solidFill>
                <a:schemeClr val="tx1"/>
              </a:solidFill>
              <a:latin typeface="Times New Roman" panose="02020603050405020304" pitchFamily="18" charset="0"/>
              <a:cs typeface="Times New Roman" pitchFamily="18" charset="0"/>
            </a:endParaRPr>
          </a:p>
        </p:txBody>
      </p:sp>
      <p:sp>
        <p:nvSpPr>
          <p:cNvPr id="5" name="Slide Number Placeholder 4">
            <a:extLst>
              <a:ext uri="{FF2B5EF4-FFF2-40B4-BE49-F238E27FC236}">
                <a16:creationId xmlns:a16="http://schemas.microsoft.com/office/drawing/2014/main" id="{CCF284ED-2E7B-4478-8F69-D20EBCD6EC4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Tree>
    <p:extLst>
      <p:ext uri="{BB962C8B-B14F-4D97-AF65-F5344CB8AC3E}">
        <p14:creationId xmlns:p14="http://schemas.microsoft.com/office/powerpoint/2010/main" val="3046613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BB76E-7E65-4EED-9054-41DE8B794F92}"/>
              </a:ext>
            </a:extLst>
          </p:cNvPr>
          <p:cNvSpPr>
            <a:spLocks noGrp="1"/>
          </p:cNvSpPr>
          <p:nvPr>
            <p:ph type="title"/>
          </p:nvPr>
        </p:nvSpPr>
        <p:spPr>
          <a:xfrm>
            <a:off x="489422" y="368512"/>
            <a:ext cx="5258400" cy="766200"/>
          </a:xfrm>
        </p:spPr>
        <p:txBody>
          <a:bodyPr/>
          <a:lstStyle/>
          <a:p>
            <a:pPr>
              <a:lnSpc>
                <a:spcPct val="150000"/>
              </a:lnSpc>
            </a:pPr>
            <a:r>
              <a:rPr lang="en-US" sz="2400" dirty="0">
                <a:latin typeface="Times New Roman" panose="02020603050405020304" pitchFamily="18" charset="0"/>
                <a:cs typeface="Times New Roman" panose="02020603050405020304" pitchFamily="18" charset="0"/>
              </a:rPr>
              <a:t>CONCLUSION</a:t>
            </a:r>
            <a:endParaRPr lang="en-IN" sz="24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D59C5E6-0113-4B09-AF2B-4CE8E7F41C7F}"/>
              </a:ext>
            </a:extLst>
          </p:cNvPr>
          <p:cNvSpPr>
            <a:spLocks noGrp="1"/>
          </p:cNvSpPr>
          <p:nvPr>
            <p:ph type="body" idx="1"/>
          </p:nvPr>
        </p:nvSpPr>
        <p:spPr>
          <a:xfrm>
            <a:off x="244838" y="1221302"/>
            <a:ext cx="8654324" cy="3057537"/>
          </a:xfrm>
        </p:spPr>
        <p:txBody>
          <a:bodyPr/>
          <a:lstStyle/>
          <a:p>
            <a:pPr marL="342900" indent="-342900" algn="just">
              <a:lnSpc>
                <a:spcPct val="150000"/>
              </a:lnSpc>
              <a:spcBef>
                <a:spcPts val="1400"/>
              </a:spcBef>
              <a:buSzPts val="2400"/>
            </a:pPr>
            <a:r>
              <a:rPr lang="en-US" sz="1800" dirty="0">
                <a:solidFill>
                  <a:schemeClr val="tx1"/>
                </a:solidFill>
                <a:latin typeface="Times New Roman" panose="02020603050405020304" pitchFamily="18" charset="0"/>
                <a:cs typeface="Times New Roman" pitchFamily="18" charset="0"/>
              </a:rPr>
              <a:t>In this result,</a:t>
            </a:r>
            <a:r>
              <a:rPr lang="en-US" sz="1800" dirty="0">
                <a:latin typeface="Times New Roman" panose="02020603050405020304" pitchFamily="18" charset="0"/>
                <a:cs typeface="Times New Roman" panose="02020603050405020304" pitchFamily="18" charset="0"/>
              </a:rPr>
              <a:t> to show only the methodology that one can use to extract sentiment from the data and perform classification to build a recommender system.</a:t>
            </a:r>
            <a:endParaRPr lang="en-IN" sz="1800" dirty="0">
              <a:solidFill>
                <a:schemeClr val="tx1"/>
              </a:solidFill>
              <a:latin typeface="Times New Roman" panose="02020603050405020304" pitchFamily="18" charset="0"/>
              <a:cs typeface="Times New Roman" pitchFamily="18" charset="0"/>
            </a:endParaRPr>
          </a:p>
        </p:txBody>
      </p:sp>
      <p:sp>
        <p:nvSpPr>
          <p:cNvPr id="5" name="Slide Number Placeholder 4">
            <a:extLst>
              <a:ext uri="{FF2B5EF4-FFF2-40B4-BE49-F238E27FC236}">
                <a16:creationId xmlns:a16="http://schemas.microsoft.com/office/drawing/2014/main" id="{421DA3B1-560E-4687-9E74-4D2C650304A1}"/>
              </a:ext>
            </a:extLst>
          </p:cNvPr>
          <p:cNvSpPr>
            <a:spLocks noGrp="1"/>
          </p:cNvSpPr>
          <p:nvPr>
            <p:ph type="sldNum" idx="12"/>
          </p:nvPr>
        </p:nvSpPr>
        <p:spPr/>
        <p:txBody>
          <a:bodyPr/>
          <a:lstStyle/>
          <a:p>
            <a:pPr marL="0" lvl="0" indent="0" algn="r" rtl="0">
              <a:lnSpc>
                <a:spcPct val="150000"/>
              </a:lnSpc>
              <a:spcBef>
                <a:spcPts val="0"/>
              </a:spcBef>
              <a:spcAft>
                <a:spcPts val="0"/>
              </a:spcAft>
              <a:buNone/>
            </a:pPr>
            <a:fld id="{00000000-1234-1234-1234-123412341234}" type="slidenum">
              <a:rPr lang="en" smtClean="0"/>
              <a:pPr marL="0" lvl="0" indent="0" algn="r" rtl="0">
                <a:lnSpc>
                  <a:spcPct val="150000"/>
                </a:lnSpc>
                <a:spcBef>
                  <a:spcPts val="0"/>
                </a:spcBef>
                <a:spcAft>
                  <a:spcPts val="0"/>
                </a:spcAft>
                <a:buNone/>
              </a:pPr>
              <a:t>16</a:t>
            </a:fld>
            <a:endParaRPr lang="en"/>
          </a:p>
        </p:txBody>
      </p:sp>
    </p:spTree>
    <p:extLst>
      <p:ext uri="{BB962C8B-B14F-4D97-AF65-F5344CB8AC3E}">
        <p14:creationId xmlns:p14="http://schemas.microsoft.com/office/powerpoint/2010/main" val="1565825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17129-63AA-4EF6-802C-84D2FBD02CDD}"/>
              </a:ext>
            </a:extLst>
          </p:cNvPr>
          <p:cNvSpPr>
            <a:spLocks noGrp="1"/>
          </p:cNvSpPr>
          <p:nvPr>
            <p:ph type="title"/>
          </p:nvPr>
        </p:nvSpPr>
        <p:spPr/>
        <p:txBody>
          <a:bodyPr/>
          <a:lstStyle/>
          <a:p>
            <a:r>
              <a:rPr lang="en-IN" sz="2400" dirty="0">
                <a:latin typeface="Times New Roman" panose="02020603050405020304" pitchFamily="18" charset="0"/>
                <a:cs typeface="Times New Roman" panose="02020603050405020304" pitchFamily="18" charset="0"/>
              </a:rPr>
              <a:t>REFERENCE</a:t>
            </a:r>
          </a:p>
        </p:txBody>
      </p:sp>
      <p:sp>
        <p:nvSpPr>
          <p:cNvPr id="3" name="Text Placeholder 2">
            <a:extLst>
              <a:ext uri="{FF2B5EF4-FFF2-40B4-BE49-F238E27FC236}">
                <a16:creationId xmlns:a16="http://schemas.microsoft.com/office/drawing/2014/main" id="{15ADD2A5-1116-4E5D-AB14-4B8F174D1A68}"/>
              </a:ext>
            </a:extLst>
          </p:cNvPr>
          <p:cNvSpPr>
            <a:spLocks noGrp="1"/>
          </p:cNvSpPr>
          <p:nvPr>
            <p:ph type="body" idx="1"/>
          </p:nvPr>
        </p:nvSpPr>
        <p:spPr>
          <a:xfrm>
            <a:off x="0" y="1159278"/>
            <a:ext cx="8919486" cy="3635022"/>
          </a:xfrm>
        </p:spPr>
        <p:txBody>
          <a:bodyPr/>
          <a:lstStyle/>
          <a:p>
            <a:pPr>
              <a:lnSpc>
                <a:spcPct val="150000"/>
              </a:lnSpc>
              <a:spcAft>
                <a:spcPts val="800"/>
              </a:spcAft>
            </a:pPr>
            <a:r>
              <a:rPr lang="en-US" sz="1800" dirty="0">
                <a:latin typeface="Times New Roman" panose="02020603050405020304" pitchFamily="18" charset="0"/>
                <a:cs typeface="Times New Roman" panose="02020603050405020304" pitchFamily="18" charset="0"/>
              </a:rPr>
              <a:t>[1] Telemedicine, https://www.mohfw.gov.in/pdf/Telemedicine.pdf </a:t>
            </a:r>
          </a:p>
          <a:p>
            <a:pPr>
              <a:lnSpc>
                <a:spcPct val="150000"/>
              </a:lnSpc>
              <a:spcAft>
                <a:spcPts val="800"/>
              </a:spcAft>
            </a:pPr>
            <a:r>
              <a:rPr lang="en-US" sz="1800" dirty="0">
                <a:latin typeface="Times New Roman" panose="02020603050405020304" pitchFamily="18" charset="0"/>
                <a:cs typeface="Times New Roman" panose="02020603050405020304" pitchFamily="18" charset="0"/>
              </a:rPr>
              <a:t>[2] </a:t>
            </a:r>
            <a:r>
              <a:rPr lang="en-US" sz="1800" dirty="0" err="1">
                <a:latin typeface="Times New Roman" panose="02020603050405020304" pitchFamily="18" charset="0"/>
                <a:cs typeface="Times New Roman" panose="02020603050405020304" pitchFamily="18" charset="0"/>
              </a:rPr>
              <a:t>Wittich</a:t>
            </a:r>
            <a:r>
              <a:rPr lang="en-US" sz="1800" dirty="0">
                <a:latin typeface="Times New Roman" panose="02020603050405020304" pitchFamily="18" charset="0"/>
                <a:cs typeface="Times New Roman" panose="02020603050405020304" pitchFamily="18" charset="0"/>
              </a:rPr>
              <a:t> CM, </a:t>
            </a:r>
            <a:r>
              <a:rPr lang="en-US" sz="1800" dirty="0" err="1">
                <a:latin typeface="Times New Roman" panose="02020603050405020304" pitchFamily="18" charset="0"/>
                <a:cs typeface="Times New Roman" panose="02020603050405020304" pitchFamily="18" charset="0"/>
              </a:rPr>
              <a:t>Burkle</a:t>
            </a:r>
            <a:r>
              <a:rPr lang="en-US" sz="1800" dirty="0">
                <a:latin typeface="Times New Roman" panose="02020603050405020304" pitchFamily="18" charset="0"/>
                <a:cs typeface="Times New Roman" panose="02020603050405020304" pitchFamily="18" charset="0"/>
              </a:rPr>
              <a:t> CM, Lanier WL. Medication errors: an overview for clinicians. Mayo Clin Proc. 2014 Aug;89(8):1116-25. </a:t>
            </a:r>
          </a:p>
          <a:p>
            <a:pPr>
              <a:lnSpc>
                <a:spcPct val="150000"/>
              </a:lnSpc>
              <a:spcAft>
                <a:spcPts val="800"/>
              </a:spcAft>
            </a:pPr>
            <a:r>
              <a:rPr lang="en-US" sz="1800" dirty="0">
                <a:latin typeface="Times New Roman" panose="02020603050405020304" pitchFamily="18" charset="0"/>
                <a:cs typeface="Times New Roman" panose="02020603050405020304" pitchFamily="18" charset="0"/>
              </a:rPr>
              <a:t>[3] CHEN, M. R., &amp; WANG, H. F. (2013). The reason and prevention of hospital medication errors. Practical Journal of Clinical Medicine, 4.</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BEE7339-FC8F-475E-87BE-87B6315B3A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Tree>
    <p:extLst>
      <p:ext uri="{BB962C8B-B14F-4D97-AF65-F5344CB8AC3E}">
        <p14:creationId xmlns:p14="http://schemas.microsoft.com/office/powerpoint/2010/main" val="2813710216"/>
      </p:ext>
    </p:extLst>
  </p:cSld>
  <p:clrMapOvr>
    <a:masterClrMapping/>
  </p:clrMapOvr>
</p:sld>
</file>

<file path=ppt/theme/theme1.xml><?xml version="1.0" encoding="utf-8"?>
<a:theme xmlns:a="http://schemas.openxmlformats.org/drawingml/2006/main" name="Salerio template">
  <a:themeElements>
    <a:clrScheme name="Custom 347">
      <a:dk1>
        <a:srgbClr val="263248"/>
      </a:dk1>
      <a:lt1>
        <a:srgbClr val="FFFFFF"/>
      </a:lt1>
      <a:dk2>
        <a:srgbClr val="434343"/>
      </a:dk2>
      <a:lt2>
        <a:srgbClr val="E0E4E9"/>
      </a:lt2>
      <a:accent1>
        <a:srgbClr val="3F5378"/>
      </a:accent1>
      <a:accent2>
        <a:srgbClr val="263248"/>
      </a:accent2>
      <a:accent3>
        <a:srgbClr val="92A8C8"/>
      </a:accent3>
      <a:accent4>
        <a:srgbClr val="C7D3E6"/>
      </a:accent4>
      <a:accent5>
        <a:srgbClr val="FF9800"/>
      </a:accent5>
      <a:accent6>
        <a:srgbClr val="D26F00"/>
      </a:accent6>
      <a:hlink>
        <a:srgbClr val="3F537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2603</TotalTime>
  <Words>695</Words>
  <Application>Microsoft Office PowerPoint</Application>
  <PresentationFormat>On-screen Show (16:9)</PresentationFormat>
  <Paragraphs>84</Paragraphs>
  <Slides>17</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Symbol</vt:lpstr>
      <vt:lpstr>Roboto Condensed</vt:lpstr>
      <vt:lpstr>Georgia</vt:lpstr>
      <vt:lpstr>Wingdings</vt:lpstr>
      <vt:lpstr>Arvo</vt:lpstr>
      <vt:lpstr>Roboto Condensed Light</vt:lpstr>
      <vt:lpstr>Times New Roman</vt:lpstr>
      <vt:lpstr>Arial</vt:lpstr>
      <vt:lpstr>Calibri</vt:lpstr>
      <vt:lpstr>Salerio template</vt:lpstr>
      <vt:lpstr>Drugs Recommendation based on User Diseases</vt:lpstr>
      <vt:lpstr>AIM OF PROJECT</vt:lpstr>
      <vt:lpstr>ABSTRACT</vt:lpstr>
      <vt:lpstr>INTRODUCTION </vt:lpstr>
      <vt:lpstr>EXISTING SYSTEM</vt:lpstr>
      <vt:lpstr>DISADVANTAGES</vt:lpstr>
      <vt:lpstr>PROPOSED SYSTEM</vt:lpstr>
      <vt:lpstr>ADVANTAGES</vt:lpstr>
      <vt:lpstr>SYSTEM ARCHITECTURE</vt:lpstr>
      <vt:lpstr>ALGORITHM </vt:lpstr>
      <vt:lpstr>MODULES</vt:lpstr>
      <vt:lpstr>USER</vt:lpstr>
      <vt:lpstr>HARDWARE REQUIREMENTS</vt:lpstr>
      <vt:lpstr>SOFTWARE REQUIREMENTS</vt:lpstr>
      <vt:lpstr>FUTURE WORK</vt:lpstr>
      <vt:lpstr>CONCLUSION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dc:title>
  <dc:creator>ADMIN</dc:creator>
  <cp:lastModifiedBy>kavitha jeeva</cp:lastModifiedBy>
  <cp:revision>171</cp:revision>
  <dcterms:modified xsi:type="dcterms:W3CDTF">2026-03-22T08:18:16Z</dcterms:modified>
</cp:coreProperties>
</file>